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90" r:id="rId3"/>
    <p:sldId id="287" r:id="rId4"/>
    <p:sldId id="296" r:id="rId5"/>
    <p:sldId id="293" r:id="rId6"/>
    <p:sldId id="284" r:id="rId7"/>
    <p:sldId id="29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CE90"/>
    <a:srgbClr val="0B1A3E"/>
    <a:srgbClr val="E8A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5"/>
    <p:restoredTop sz="94685"/>
  </p:normalViewPr>
  <p:slideViewPr>
    <p:cSldViewPr snapToGrid="0">
      <p:cViewPr varScale="1">
        <p:scale>
          <a:sx n="95" d="100"/>
          <a:sy n="95" d="100"/>
        </p:scale>
        <p:origin x="21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A019B-B2B6-BB43-BEE8-E8DB94D9840F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4EEBA-CC0F-E24D-9A77-CA43F10C1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43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lang="en-US" sz="1200" kern="0" dirty="0">
                <a:solidFill>
                  <a:schemeClr val="bg1"/>
                </a:solidFill>
                <a:latin typeface="Charter Roman" panose="02040503050506020203" pitchFamily="18" charset="0"/>
              </a:rPr>
              <a:t>Tow Operators Biggest Challenges: </a:t>
            </a:r>
            <a:r>
              <a:rPr lang="en-US" dirty="0"/>
              <a:t>One turnkey program combining insurance, telematics &amp; claims expertise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rPr lang="en-US" dirty="0"/>
              <a:t>Cuts claims investigation time by 25%+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rPr lang="en-US" dirty="0"/>
              <a:t>Lowers loss costs by up to 20%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rPr lang="en-US" dirty="0"/>
              <a:t>Reduces fraud &amp; litigation with video evidence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776-3688-1F45-AB9A-315FBF97B1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14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04CC-65A9-EE3B-21F8-AAD00F810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12933F-394E-6B7D-CDF2-E147C8352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35DC8-28C7-0EBD-5A03-3F8D99753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98AA-DF56-D541-ABAB-729D2944927C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4C2C1-7417-5B5A-49FD-EFE7631C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9E4E3-64C4-6E6F-9474-9F0855974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141D8-0209-9340-9755-0670C456D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449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DECD-7961-9188-F2B6-8EA5E8090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F423-7682-DA66-09C3-983CCDE88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25F5E-BD3B-2E74-7172-4271093A9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98AA-DF56-D541-ABAB-729D2944927C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27ACA-7BF9-C241-ABAA-EDC3835B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8605A-B443-78D9-BE47-44956E15C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141D8-0209-9340-9755-0670C456D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12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202C-9CB3-4A83-D4F2-9925C7B97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6A249-3707-163C-D465-D39CFA1DF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AD911-45F2-CF75-126F-640388B05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98AA-DF56-D541-ABAB-729D2944927C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E7ADA-2336-78D1-6215-7EECB6B54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6D20A-EDD5-2B39-C91D-A06FBCEB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141D8-0209-9340-9755-0670C456D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8447D-FD35-6686-61D8-59012E74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66F0F-F60E-D142-2283-7AE7E6C18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27A19-622A-CA69-8049-F98C91F2C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75A23-A3BD-0329-C58A-65C85B89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98AA-DF56-D541-ABAB-729D2944927C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96375-73A3-E1D1-A62C-FA9E1B6C9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D37CE-B2D5-0A39-1474-B43C42DE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141D8-0209-9340-9755-0670C456D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61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62C91-3489-EE52-4CE4-52C618547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C7469-E6B8-D380-4AE6-522FD11BC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632B3-D882-32C5-D5C9-F68723C8B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4D2F36-5583-D09E-89BC-7A1B82950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81EEF-CBC3-3B6C-7B21-387009D37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0CB924-0E92-D5FE-0FCE-1C8F45AE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98AA-DF56-D541-ABAB-729D2944927C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8C0AF6-A9FB-EBC0-58A3-FEE1AEA58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AA9C0-5B1B-4D0C-6AA3-D2D279BE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141D8-0209-9340-9755-0670C456D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9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0D42-EB2A-1500-81DB-1C9A3C06E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533E70-EB65-D4E5-211D-FF6319DFA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98AA-DF56-D541-ABAB-729D2944927C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F9397-0DB3-834A-40B8-4CC50B98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9DA75-6F01-6E6A-B403-F74327B7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141D8-0209-9340-9755-0670C456D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73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A878D1-3E58-0164-5F02-86389D8A0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98AA-DF56-D541-ABAB-729D2944927C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ECC046-5A8C-D4CA-F4BC-67F6C16E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4130B-AA26-60F2-2D5F-FB5F835D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141D8-0209-9340-9755-0670C456D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2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3992-EB04-F1F7-7F77-48CB1D608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1A5E7-C7E7-6269-2C5E-55E35920C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3DD7A-0E67-8CC7-5AAB-9D359238D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415CA-C039-1BF5-79FA-7967D899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98AA-DF56-D541-ABAB-729D2944927C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EDB10-1B15-DA54-5D92-109524DF9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2577D-9F55-3E92-2D02-A092952B2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141D8-0209-9340-9755-0670C456D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5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54B8-C18A-EA4F-72FB-698DA3D5B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6481E7-88D8-A971-453A-D810F6F23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47CB2-4D9E-F17B-EC2C-F728306A7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C73EB-F4F1-A366-F85B-4227573C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98AA-DF56-D541-ABAB-729D2944927C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CD641-FFBF-55F1-0803-CBE60255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B1672-925E-5E2A-5700-44652E53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141D8-0209-9340-9755-0670C456D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48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2AE1-42FC-733F-11D9-0F6E0C568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CC7A51-0477-836D-1248-5EC89EE93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C9A47-FE25-B8FA-A794-1613C7A36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98AA-DF56-D541-ABAB-729D2944927C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FA805-EA97-996C-EA3E-2C9CA392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D0043-7835-C2E0-7399-5BDFB0C2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141D8-0209-9340-9755-0670C456D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7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F3DD70-608B-A120-C92D-AD2E0DA18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3D9BF-5E09-337C-6868-983D798A2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2971B-5706-C144-5659-3E750FBA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98AA-DF56-D541-ABAB-729D2944927C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C1C1F-054A-C9BD-6969-DD0F9CF3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79FA0-6D26-27B7-8949-801345D77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141D8-0209-9340-9755-0670C456D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62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59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6132" y="1952073"/>
            <a:ext cx="3288453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01214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61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838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765DDA-9DC4-A6DF-27B7-03C1EF780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84D5D-BA62-5E5F-949A-D74F4A5E9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8AEA8-3482-D9ED-F774-1F2675338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E98AA-DF56-D541-ABAB-729D2944927C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1624B-5CAA-0EF4-ACEC-95E126CC9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CF98C-164B-6D3E-F4B4-4C08A45BA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141D8-0209-9340-9755-0670C456D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1200" y="1824737"/>
            <a:ext cx="3210560" cy="3210560"/>
          </a:xfrm>
          <a:prstGeom prst="rect">
            <a:avLst/>
          </a:prstGeom>
        </p:spPr>
      </p:pic>
      <p:sp>
        <p:nvSpPr>
          <p:cNvPr id="9" name="Google Shape;367;p48">
            <a:extLst>
              <a:ext uri="{FF2B5EF4-FFF2-40B4-BE49-F238E27FC236}">
                <a16:creationId xmlns:a16="http://schemas.microsoft.com/office/drawing/2014/main" id="{4497E2E7-E0A6-D03C-E8EA-0AF07638BCCE}"/>
              </a:ext>
            </a:extLst>
          </p:cNvPr>
          <p:cNvSpPr txBox="1">
            <a:spLocks/>
          </p:cNvSpPr>
          <p:nvPr/>
        </p:nvSpPr>
        <p:spPr>
          <a:xfrm>
            <a:off x="949781" y="2212650"/>
            <a:ext cx="5343443" cy="24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buClr>
                <a:srgbClr val="F5F5F5"/>
              </a:buClr>
            </a:pPr>
            <a:r>
              <a:rPr kumimoji="0" lang="en-US" sz="4000" u="none" strike="noStrike" kern="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Yu Gothic UI Semibold" panose="020B0500000000000000" pitchFamily="34" charset="-128"/>
                <a:ea typeface="Yu Gothic UI Semibold" panose="020B0500000000000000" pitchFamily="34" charset="-128"/>
                <a:sym typeface="Inter"/>
              </a:rPr>
              <a:t>Affinity Risk Solutions</a:t>
            </a:r>
            <a:br>
              <a:rPr kumimoji="0" lang="en-US" sz="3200" u="none" strike="noStrike" kern="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Yu Gothic UI Semibold" panose="020B0500000000000000" pitchFamily="34" charset="-128"/>
                <a:ea typeface="Yu Gothic UI Semibold" panose="020B0500000000000000" pitchFamily="34" charset="-128"/>
                <a:sym typeface="Inter"/>
              </a:rPr>
            </a:br>
            <a:endParaRPr lang="en-US" sz="3200" kern="0" dirty="0">
              <a:solidFill>
                <a:srgbClr val="E1C78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>
              <a:buClr>
                <a:srgbClr val="F5F5F5"/>
              </a:buClr>
            </a:pPr>
            <a:endParaRPr kumimoji="0" lang="en-US" sz="3200" i="0" u="none" strike="noStrike" kern="0" cap="none" spc="0" normalizeH="0" baseline="0" noProof="0" dirty="0">
              <a:ln>
                <a:noFill/>
              </a:ln>
              <a:solidFill>
                <a:srgbClr val="E1C782"/>
              </a:solidFill>
              <a:effectLst/>
              <a:uLnTx/>
              <a:uFillTx/>
              <a:latin typeface="Inter SemiBold"/>
              <a:ea typeface="Inter SemiBold"/>
              <a:cs typeface="Inter SemiBold"/>
              <a:sym typeface="Inter SemiBold"/>
            </a:endParaRPr>
          </a:p>
          <a:p>
            <a:pPr>
              <a:buClr>
                <a:srgbClr val="F5F5F5"/>
              </a:buClr>
            </a:pPr>
            <a:r>
              <a:rPr kumimoji="0" lang="en-US" sz="4000" u="none" strike="noStrike" kern="0" cap="none" spc="0" normalizeH="0" baseline="0" noProof="0" dirty="0">
                <a:ln>
                  <a:noFill/>
                </a:ln>
                <a:solidFill>
                  <a:srgbClr val="E1C782"/>
                </a:solidFill>
                <a:effectLst/>
                <a:uLnTx/>
                <a:uFillTx/>
                <a:latin typeface="Yu Gothic UI Semibold" panose="020B0500000000000000" pitchFamily="34" charset="-128"/>
                <a:ea typeface="Yu Gothic UI Semibold" panose="020B0500000000000000" pitchFamily="34" charset="-128"/>
                <a:cs typeface="Inter SemiBold"/>
                <a:sym typeface="Inter SemiBold"/>
              </a:rPr>
              <a:t>AAA ACG Club</a:t>
            </a:r>
          </a:p>
          <a:p>
            <a:pPr>
              <a:buClr>
                <a:srgbClr val="F5F5F5"/>
              </a:buClr>
            </a:pPr>
            <a:endParaRPr kumimoji="0" lang="en-US" sz="4000" u="none" strike="noStrike" kern="0" cap="none" spc="0" normalizeH="0" baseline="0" noProof="0" dirty="0">
              <a:ln>
                <a:noFill/>
              </a:ln>
              <a:solidFill>
                <a:srgbClr val="E1C782"/>
              </a:solidFill>
              <a:effectLst/>
              <a:uLnTx/>
              <a:uFillTx/>
              <a:latin typeface="Yu Gothic UI Semibold" panose="020B0500000000000000" pitchFamily="34" charset="-128"/>
              <a:ea typeface="Yu Gothic UI Semibold" panose="020B0500000000000000" pitchFamily="34" charset="-128"/>
              <a:cs typeface="Inter SemiBold"/>
              <a:sym typeface="Inter SemiBold"/>
            </a:endParaRPr>
          </a:p>
          <a:p>
            <a:pPr>
              <a:buClr>
                <a:srgbClr val="F5F5F5"/>
              </a:buClr>
            </a:pPr>
            <a:endParaRPr kumimoji="0" lang="en-US" sz="2700" b="1" i="0" u="none" strike="noStrike" kern="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000"/>
              <a:buFont typeface="Inter"/>
              <a:buNone/>
              <a:tabLst/>
              <a:defRPr/>
            </a:pPr>
            <a:b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</a:b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000"/>
              <a:buFont typeface="Inter"/>
              <a:buNone/>
              <a:tabLst/>
              <a:defRPr/>
            </a:pPr>
            <a:endParaRPr kumimoji="0" lang="en-US" sz="1900" b="1" i="0" u="none" strike="noStrike" kern="0" cap="none" spc="0" normalizeH="0" baseline="0" noProof="0" dirty="0">
              <a:ln>
                <a:noFill/>
              </a:ln>
              <a:solidFill>
                <a:srgbClr val="E0C78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000"/>
              <a:buFont typeface="Inter"/>
              <a:buNone/>
              <a:tabLst/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E0C78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000"/>
              <a:buFont typeface="Inter"/>
              <a:buNone/>
              <a:tabLst/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E0C78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​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E0C782"/>
              </a:solidFill>
              <a:effectLst/>
              <a:uLnTx/>
              <a:uFillTx/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B6E3BF5-952F-0182-DE81-720BA409481A}"/>
              </a:ext>
            </a:extLst>
          </p:cNvPr>
          <p:cNvGrpSpPr/>
          <p:nvPr/>
        </p:nvGrpSpPr>
        <p:grpSpPr>
          <a:xfrm>
            <a:off x="196877" y="6459504"/>
            <a:ext cx="803564" cy="179113"/>
            <a:chOff x="235527" y="6522044"/>
            <a:chExt cx="803564" cy="179113"/>
          </a:xfrm>
        </p:grpSpPr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D0B8BDCB-9EC8-0ED9-E658-08B91C7F1DF5}"/>
                </a:ext>
              </a:extLst>
            </p:cNvPr>
            <p:cNvSpPr/>
            <p:nvPr/>
          </p:nvSpPr>
          <p:spPr>
            <a:xfrm>
              <a:off x="235527" y="6531429"/>
              <a:ext cx="803564" cy="169728"/>
            </a:xfrm>
            <a:custGeom>
              <a:avLst/>
              <a:gdLst/>
              <a:ahLst/>
              <a:cxnLst/>
              <a:rect l="l" t="t" r="r" b="b"/>
              <a:pathLst>
                <a:path w="768350" h="190500">
                  <a:moveTo>
                    <a:pt x="0" y="95250"/>
                  </a:moveTo>
                  <a:lnTo>
                    <a:pt x="7485" y="58174"/>
                  </a:lnTo>
                  <a:lnTo>
                    <a:pt x="27898" y="27898"/>
                  </a:lnTo>
                  <a:lnTo>
                    <a:pt x="58174" y="7485"/>
                  </a:lnTo>
                  <a:lnTo>
                    <a:pt x="95249" y="0"/>
                  </a:lnTo>
                  <a:lnTo>
                    <a:pt x="672750" y="0"/>
                  </a:lnTo>
                  <a:lnTo>
                    <a:pt x="709825" y="7485"/>
                  </a:lnTo>
                  <a:lnTo>
                    <a:pt x="740101" y="27898"/>
                  </a:lnTo>
                  <a:lnTo>
                    <a:pt x="760514" y="58174"/>
                  </a:lnTo>
                  <a:lnTo>
                    <a:pt x="768000" y="95250"/>
                  </a:lnTo>
                  <a:lnTo>
                    <a:pt x="760514" y="132325"/>
                  </a:lnTo>
                  <a:lnTo>
                    <a:pt x="740101" y="162601"/>
                  </a:lnTo>
                  <a:lnTo>
                    <a:pt x="709825" y="183014"/>
                  </a:lnTo>
                  <a:lnTo>
                    <a:pt x="672750" y="190500"/>
                  </a:lnTo>
                  <a:lnTo>
                    <a:pt x="95249" y="190500"/>
                  </a:lnTo>
                  <a:lnTo>
                    <a:pt x="58174" y="183014"/>
                  </a:lnTo>
                  <a:lnTo>
                    <a:pt x="27898" y="162601"/>
                  </a:lnTo>
                  <a:lnTo>
                    <a:pt x="7485" y="132325"/>
                  </a:lnTo>
                  <a:lnTo>
                    <a:pt x="0" y="95250"/>
                  </a:lnTo>
                  <a:close/>
                </a:path>
              </a:pathLst>
            </a:custGeom>
            <a:ln w="9525">
              <a:solidFill>
                <a:srgbClr val="E0C782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3382F850-3C7B-1038-A9E0-F4C5933727DC}"/>
                </a:ext>
              </a:extLst>
            </p:cNvPr>
            <p:cNvSpPr txBox="1"/>
            <p:nvPr/>
          </p:nvSpPr>
          <p:spPr>
            <a:xfrm>
              <a:off x="315574" y="6522044"/>
              <a:ext cx="644479" cy="155598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16933" defTabSz="1219170">
                <a:spcBef>
                  <a:spcPts val="133"/>
                </a:spcBef>
              </a:pPr>
              <a:r>
                <a:rPr sz="900" kern="0" spc="-13" dirty="0">
                  <a:solidFill>
                    <a:srgbClr val="E0C782"/>
                  </a:solidFill>
                  <a:latin typeface="Arial"/>
                  <a:cs typeface="Arial"/>
                </a:rPr>
                <a:t>Confidential</a:t>
              </a:r>
              <a:endParaRPr sz="900" kern="0" dirty="0">
                <a:solidFill>
                  <a:sysClr val="windowText" lastClr="000000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87680" cy="829056"/>
          </a:xfrm>
          <a:prstGeom prst="rect">
            <a:avLst/>
          </a:prstGeom>
          <a:solidFill>
            <a:srgbClr val="E3CE90"/>
          </a:solidFill>
          <a:ln w="12700">
            <a:solidFill>
              <a:srgbClr val="E3CE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48768"/>
            <a:ext cx="109728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933" marR="0" lvl="0" indent="0" algn="l" defTabSz="914400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0" cap="none" spc="-272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harter Roman" panose="02040503050506020203" pitchFamily="18" charset="0"/>
                <a:ea typeface="+mn-ea"/>
                <a:cs typeface="+mn-cs"/>
              </a:rPr>
              <a:t>Who We Are</a:t>
            </a:r>
            <a:endParaRPr kumimoji="0" lang="en-US" sz="4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harter Roman" panose="02040503050506020203" pitchFamily="18" charset="0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402080"/>
            <a:ext cx="5632704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487680" y="1402080"/>
            <a:ext cx="5632704" cy="121920"/>
          </a:xfrm>
          <a:prstGeom prst="rect">
            <a:avLst/>
          </a:prstGeom>
          <a:solidFill>
            <a:srgbClr val="E3CE90"/>
          </a:solidFill>
          <a:ln w="12700">
            <a:solidFill>
              <a:srgbClr val="E3CE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43456"/>
            <a:ext cx="609600" cy="609600"/>
          </a:xfrm>
          <a:prstGeom prst="rect">
            <a:avLst/>
          </a:prstGeom>
          <a:noFill/>
        </p:spPr>
      </p:pic>
      <p:sp>
        <p:nvSpPr>
          <p:cNvPr id="9" name="Text 6"/>
          <p:cNvSpPr/>
          <p:nvPr/>
        </p:nvSpPr>
        <p:spPr>
          <a:xfrm>
            <a:off x="1511808" y="1645920"/>
            <a:ext cx="4389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Track Record</a:t>
            </a:r>
            <a:endParaRPr lang="en-US" sz="1733" dirty="0"/>
          </a:p>
        </p:txBody>
      </p:sp>
      <p:sp>
        <p:nvSpPr>
          <p:cNvPr id="10" name="Text 7"/>
          <p:cNvSpPr/>
          <p:nvPr/>
        </p:nvSpPr>
        <p:spPr>
          <a:xfrm>
            <a:off x="731520" y="2328672"/>
            <a:ext cx="514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specialty insurance expertise scaling programs. Two prior companies owned by principals with 20+ years in the AAA ecosystem.</a:t>
            </a:r>
            <a:endParaRPr lang="en-US" sz="1467" dirty="0"/>
          </a:p>
        </p:txBody>
      </p:sp>
      <p:sp>
        <p:nvSpPr>
          <p:cNvPr id="11" name="Shape 8"/>
          <p:cNvSpPr/>
          <p:nvPr/>
        </p:nvSpPr>
        <p:spPr>
          <a:xfrm>
            <a:off x="6437376" y="1402080"/>
            <a:ext cx="5632704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9"/>
          <p:cNvSpPr/>
          <p:nvPr/>
        </p:nvSpPr>
        <p:spPr>
          <a:xfrm>
            <a:off x="6437376" y="1402080"/>
            <a:ext cx="5632704" cy="121920"/>
          </a:xfrm>
          <a:prstGeom prst="rect">
            <a:avLst/>
          </a:prstGeom>
          <a:solidFill>
            <a:srgbClr val="E3CE90"/>
          </a:solidFill>
          <a:ln w="12700">
            <a:solidFill>
              <a:srgbClr val="E3CE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216" y="1743456"/>
            <a:ext cx="609600" cy="609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61504" y="1645920"/>
            <a:ext cx="4389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the AAA Ecosystem</a:t>
            </a:r>
            <a:endParaRPr lang="en-US" sz="1733" dirty="0"/>
          </a:p>
        </p:txBody>
      </p:sp>
      <p:sp>
        <p:nvSpPr>
          <p:cNvPr id="15" name="Text 11"/>
          <p:cNvSpPr/>
          <p:nvPr/>
        </p:nvSpPr>
        <p:spPr>
          <a:xfrm>
            <a:off x="6681216" y="2328672"/>
            <a:ext cx="514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clubs, members, and independent operators nationwide. Former AAA agents and executives on staff who know what AAA needs.</a:t>
            </a:r>
            <a:endParaRPr lang="en-US" sz="1467" dirty="0"/>
          </a:p>
        </p:txBody>
      </p:sp>
      <p:sp>
        <p:nvSpPr>
          <p:cNvPr id="16" name="Shape 12"/>
          <p:cNvSpPr/>
          <p:nvPr/>
        </p:nvSpPr>
        <p:spPr>
          <a:xfrm>
            <a:off x="487680" y="4023360"/>
            <a:ext cx="5632704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3"/>
          <p:cNvSpPr/>
          <p:nvPr/>
        </p:nvSpPr>
        <p:spPr>
          <a:xfrm>
            <a:off x="487680" y="4023360"/>
            <a:ext cx="5632704" cy="121920"/>
          </a:xfrm>
          <a:prstGeom prst="rect">
            <a:avLst/>
          </a:prstGeom>
          <a:solidFill>
            <a:srgbClr val="E3CE90"/>
          </a:solidFill>
          <a:ln w="12700">
            <a:solidFill>
              <a:srgbClr val="E3CE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64736"/>
            <a:ext cx="609600" cy="609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11808" y="4267200"/>
            <a:ext cx="4389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Products</a:t>
            </a:r>
          </a:p>
        </p:txBody>
      </p:sp>
      <p:sp>
        <p:nvSpPr>
          <p:cNvPr id="20" name="Text 15"/>
          <p:cNvSpPr/>
          <p:nvPr/>
        </p:nvSpPr>
        <p:spPr>
          <a:xfrm>
            <a:off x="731520" y="4949952"/>
            <a:ext cx="514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933" marR="6773">
              <a:spcBef>
                <a:spcPts val="133"/>
              </a:spcBef>
            </a:pPr>
            <a:r>
              <a:rPr lang="en-US" sz="1470" b="1" dirty="0">
                <a:latin typeface="Calibri" panose="020F0502020204030204" pitchFamily="34" charset="0"/>
                <a:ea typeface="Yu Gothic UI Semilight" panose="020B0400000000000000" pitchFamily="34" charset="-128"/>
                <a:cs typeface="Calibri" panose="020F0502020204030204" pitchFamily="34" charset="0"/>
              </a:rPr>
              <a:t>Workers' Comp: </a:t>
            </a:r>
            <a:r>
              <a:rPr lang="en-US" sz="1470" dirty="0">
                <a:latin typeface="Calibri" panose="020F0502020204030204" pitchFamily="34" charset="0"/>
                <a:ea typeface="Yu Gothic UI Semilight" panose="020B0400000000000000" pitchFamily="34" charset="-128"/>
                <a:cs typeface="Calibri" panose="020F0502020204030204" pitchFamily="34" charset="0"/>
              </a:rPr>
              <a:t>Instant savings with our exclusive AmTrust program</a:t>
            </a:r>
            <a:br>
              <a:rPr lang="en-US" sz="1470" dirty="0">
                <a:latin typeface="Calibri" panose="020F0502020204030204" pitchFamily="34" charset="0"/>
                <a:ea typeface="Yu Gothic UI Semilight" panose="020B0400000000000000" pitchFamily="34" charset="-128"/>
                <a:cs typeface="Calibri" panose="020F0502020204030204" pitchFamily="34" charset="0"/>
              </a:rPr>
            </a:br>
            <a:r>
              <a:rPr lang="en-US" sz="1470" b="1" dirty="0">
                <a:latin typeface="Calibri" panose="020F0502020204030204" pitchFamily="34" charset="0"/>
                <a:ea typeface="Yu Gothic UI Semilight" panose="020B0400000000000000" pitchFamily="34" charset="-128"/>
                <a:cs typeface="Calibri" panose="020F0502020204030204" pitchFamily="34" charset="0"/>
              </a:rPr>
              <a:t>Commercial Auto: </a:t>
            </a:r>
            <a:r>
              <a:rPr lang="en-US" sz="1470" dirty="0">
                <a:latin typeface="Calibri" panose="020F0502020204030204" pitchFamily="34" charset="0"/>
                <a:ea typeface="Yu Gothic UI Semilight" panose="020B0400000000000000" pitchFamily="34" charset="-128"/>
                <a:cs typeface="Calibri" panose="020F0502020204030204" pitchFamily="34" charset="0"/>
              </a:rPr>
              <a:t>Fair, usage-based pricing via telematics.</a:t>
            </a:r>
          </a:p>
        </p:txBody>
      </p:sp>
      <p:sp>
        <p:nvSpPr>
          <p:cNvPr id="21" name="Shape 16"/>
          <p:cNvSpPr/>
          <p:nvPr/>
        </p:nvSpPr>
        <p:spPr>
          <a:xfrm>
            <a:off x="6437376" y="4023360"/>
            <a:ext cx="5632704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Shape 17"/>
          <p:cNvSpPr/>
          <p:nvPr/>
        </p:nvSpPr>
        <p:spPr>
          <a:xfrm>
            <a:off x="6437376" y="4023360"/>
            <a:ext cx="5632704" cy="121920"/>
          </a:xfrm>
          <a:prstGeom prst="rect">
            <a:avLst/>
          </a:prstGeom>
          <a:solidFill>
            <a:srgbClr val="E3CE90"/>
          </a:solidFill>
          <a:ln w="12700">
            <a:solidFill>
              <a:srgbClr val="E3CE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216" y="4364736"/>
            <a:ext cx="609600" cy="609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61504" y="4267200"/>
            <a:ext cx="4389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Mission-Driven</a:t>
            </a:r>
            <a:endParaRPr lang="en-US" sz="1733" dirty="0"/>
          </a:p>
        </p:txBody>
      </p:sp>
      <p:sp>
        <p:nvSpPr>
          <p:cNvPr id="25" name="Text 19"/>
          <p:cNvSpPr/>
          <p:nvPr/>
        </p:nvSpPr>
        <p:spPr>
          <a:xfrm>
            <a:off x="6681216" y="4949952"/>
            <a:ext cx="514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operators, members, and the AAA Brand while reducing costs and improving service quality across the entire towing network.</a:t>
            </a:r>
            <a:endParaRPr lang="en-US" sz="1467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D3C6C1D-D318-5901-EE04-B8384B662B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697556"/>
            <a:ext cx="12192000" cy="1761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A2A53-DE8C-8B86-A293-CDF8FDFF6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9F14E36-79B1-A436-3F92-6E68C4CB8592}"/>
              </a:ext>
            </a:extLst>
          </p:cNvPr>
          <p:cNvSpPr/>
          <p:nvPr/>
        </p:nvSpPr>
        <p:spPr>
          <a:xfrm>
            <a:off x="-193964" y="0"/>
            <a:ext cx="12582007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499"/>
                </a:lnTo>
                <a:lnTo>
                  <a:pt x="9144000" y="5143499"/>
                </a:lnTo>
                <a:lnTo>
                  <a:pt x="9144000" y="0"/>
                </a:lnTo>
                <a:close/>
              </a:path>
            </a:pathLst>
          </a:custGeom>
          <a:solidFill>
            <a:srgbClr val="012141"/>
          </a:solidFill>
        </p:spPr>
        <p:txBody>
          <a:bodyPr wrap="square" lIns="0" tIns="0" rIns="0" bIns="0" rtlCol="0"/>
          <a:lstStyle/>
          <a:p>
            <a:pPr defTabSz="1219170"/>
            <a:endParaRPr sz="2400" kern="0" dirty="0">
              <a:solidFill>
                <a:sysClr val="windowText" lastClr="000000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8099ED0-07DC-1C27-4037-CBBA6E5D4BEA}"/>
              </a:ext>
            </a:extLst>
          </p:cNvPr>
          <p:cNvSpPr/>
          <p:nvPr/>
        </p:nvSpPr>
        <p:spPr>
          <a:xfrm>
            <a:off x="397553" y="1533460"/>
            <a:ext cx="2640249" cy="544657"/>
          </a:xfrm>
          <a:custGeom>
            <a:avLst/>
            <a:gdLst/>
            <a:ahLst/>
            <a:cxnLst/>
            <a:rect l="l" t="t" r="r" b="b"/>
            <a:pathLst>
              <a:path w="1830070" h="360680">
                <a:moveTo>
                  <a:pt x="1649551" y="0"/>
                </a:moveTo>
                <a:lnTo>
                  <a:pt x="180150" y="0"/>
                </a:lnTo>
                <a:lnTo>
                  <a:pt x="132259" y="6435"/>
                </a:lnTo>
                <a:lnTo>
                  <a:pt x="89225" y="24595"/>
                </a:lnTo>
                <a:lnTo>
                  <a:pt x="52764" y="52765"/>
                </a:lnTo>
                <a:lnTo>
                  <a:pt x="24595" y="89225"/>
                </a:lnTo>
                <a:lnTo>
                  <a:pt x="6435" y="132259"/>
                </a:lnTo>
                <a:lnTo>
                  <a:pt x="0" y="180149"/>
                </a:lnTo>
                <a:lnTo>
                  <a:pt x="6435" y="228040"/>
                </a:lnTo>
                <a:lnTo>
                  <a:pt x="24595" y="271074"/>
                </a:lnTo>
                <a:lnTo>
                  <a:pt x="52764" y="307535"/>
                </a:lnTo>
                <a:lnTo>
                  <a:pt x="89225" y="335704"/>
                </a:lnTo>
                <a:lnTo>
                  <a:pt x="132259" y="353865"/>
                </a:lnTo>
                <a:lnTo>
                  <a:pt x="180150" y="360300"/>
                </a:lnTo>
                <a:lnTo>
                  <a:pt x="1649549" y="360301"/>
                </a:lnTo>
                <a:lnTo>
                  <a:pt x="1697440" y="353866"/>
                </a:lnTo>
                <a:lnTo>
                  <a:pt x="1740474" y="335705"/>
                </a:lnTo>
                <a:lnTo>
                  <a:pt x="1776935" y="307537"/>
                </a:lnTo>
                <a:lnTo>
                  <a:pt x="1805104" y="271076"/>
                </a:lnTo>
                <a:lnTo>
                  <a:pt x="1823264" y="228042"/>
                </a:lnTo>
                <a:lnTo>
                  <a:pt x="1829702" y="180150"/>
                </a:lnTo>
                <a:lnTo>
                  <a:pt x="1823267" y="132259"/>
                </a:lnTo>
                <a:lnTo>
                  <a:pt x="1805106" y="89225"/>
                </a:lnTo>
                <a:lnTo>
                  <a:pt x="1776937" y="52765"/>
                </a:lnTo>
                <a:lnTo>
                  <a:pt x="1740477" y="24595"/>
                </a:lnTo>
                <a:lnTo>
                  <a:pt x="1697442" y="6435"/>
                </a:lnTo>
                <a:lnTo>
                  <a:pt x="1649551" y="0"/>
                </a:lnTo>
                <a:close/>
              </a:path>
            </a:pathLst>
          </a:custGeom>
          <a:solidFill>
            <a:srgbClr val="E4CE8F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F0F6233A-1FD4-354F-4A3A-2764BD41DEDA}"/>
              </a:ext>
            </a:extLst>
          </p:cNvPr>
          <p:cNvSpPr txBox="1"/>
          <p:nvPr/>
        </p:nvSpPr>
        <p:spPr>
          <a:xfrm>
            <a:off x="598659" y="1631322"/>
            <a:ext cx="2129665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 defTabSz="1219170">
              <a:spcBef>
                <a:spcPts val="133"/>
              </a:spcBef>
            </a:pPr>
            <a:r>
              <a:rPr lang="en-US" sz="2000" b="1" u="sng" kern="0" spc="-53" dirty="0">
                <a:solidFill>
                  <a:srgbClr val="012041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Verdana"/>
              </a:rPr>
              <a:t>The Problem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348BE1-41A5-996D-E4A2-C6BB65D6020C}"/>
              </a:ext>
            </a:extLst>
          </p:cNvPr>
          <p:cNvSpPr txBox="1"/>
          <p:nvPr/>
        </p:nvSpPr>
        <p:spPr>
          <a:xfrm>
            <a:off x="272612" y="2120382"/>
            <a:ext cx="34865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Rising insurance premiums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bg1"/>
              </a:solidFill>
              <a:latin typeface="Yu Gothic UI Semilight" panose="020B0400000000000000" pitchFamily="34" charset="-128"/>
              <a:ea typeface="Yu Gothic UI Semilight" panose="020B04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High roadside &amp; towing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bg1"/>
              </a:solidFill>
              <a:latin typeface="Yu Gothic UI Semilight" panose="020B0400000000000000" pitchFamily="34" charset="-128"/>
              <a:ea typeface="Yu Gothic UI Semilight" panose="020B04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Inconsistent coverage across carriers and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bg1"/>
              </a:solidFill>
              <a:latin typeface="Yu Gothic UI Semilight" panose="020B0400000000000000" pitchFamily="34" charset="-128"/>
              <a:ea typeface="Yu Gothic UI Semilight" panose="020B04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Operating costs squeezing margins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5886BB-6F9B-A81B-805F-7D4CD0B483CC}"/>
              </a:ext>
            </a:extLst>
          </p:cNvPr>
          <p:cNvSpPr txBox="1"/>
          <p:nvPr/>
        </p:nvSpPr>
        <p:spPr>
          <a:xfrm>
            <a:off x="3661659" y="2120382"/>
            <a:ext cx="42354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Insurance, compliance &amp; training scattered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bg1"/>
              </a:solidFill>
              <a:latin typeface="Yu Gothic UI Semilight" panose="020B0400000000000000" pitchFamily="34" charset="-128"/>
              <a:ea typeface="Yu Gothic UI Semilight" panose="020B04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Few carriers willing to insure high-risk 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bg1"/>
              </a:solidFill>
              <a:latin typeface="Yu Gothic UI Semilight" panose="020B0400000000000000" pitchFamily="34" charset="-128"/>
              <a:ea typeface="Yu Gothic UI Semilight" panose="020B04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Fragmented Benefits: No bundled solution across coverage, telematics &amp; claims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bg1"/>
              </a:solidFill>
              <a:latin typeface="Yu Gothic UI Semilight" panose="020B0400000000000000" pitchFamily="34" charset="-128"/>
              <a:ea typeface="Yu Gothic UI Semilight" panose="020B04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Operators lack access to advanced risk tools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5DB59DA1-5858-37AB-AF6F-46D2D9721211}"/>
              </a:ext>
            </a:extLst>
          </p:cNvPr>
          <p:cNvSpPr txBox="1">
            <a:spLocks/>
          </p:cNvSpPr>
          <p:nvPr/>
        </p:nvSpPr>
        <p:spPr>
          <a:xfrm>
            <a:off x="371990" y="264545"/>
            <a:ext cx="11422457" cy="69420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>
            <a:lvl1pPr>
              <a:defRPr sz="5600" b="0" i="0">
                <a:solidFill>
                  <a:srgbClr val="01214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16933">
              <a:spcBef>
                <a:spcPts val="133"/>
              </a:spcBef>
            </a:pPr>
            <a:r>
              <a:rPr lang="en-US" sz="4400" kern="0" dirty="0">
                <a:solidFill>
                  <a:schemeClr val="bg1"/>
                </a:solidFill>
                <a:latin typeface="Charter Roman" panose="02040503050506020203" pitchFamily="18" charset="0"/>
              </a:rPr>
              <a:t>Solving Tow Insurance Challenges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6E99502-D07C-2B4B-905C-10C38E4131FE}"/>
              </a:ext>
            </a:extLst>
          </p:cNvPr>
          <p:cNvCxnSpPr>
            <a:cxnSpLocks/>
          </p:cNvCxnSpPr>
          <p:nvPr/>
        </p:nvCxnSpPr>
        <p:spPr>
          <a:xfrm>
            <a:off x="395626" y="1013889"/>
            <a:ext cx="665143" cy="0"/>
          </a:xfrm>
          <a:prstGeom prst="line">
            <a:avLst/>
          </a:prstGeom>
          <a:ln w="38100">
            <a:solidFill>
              <a:srgbClr val="E1C78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2F1D848-B764-549C-7EB3-B8CA3B92FA74}"/>
              </a:ext>
            </a:extLst>
          </p:cNvPr>
          <p:cNvGrpSpPr/>
          <p:nvPr/>
        </p:nvGrpSpPr>
        <p:grpSpPr>
          <a:xfrm>
            <a:off x="196877" y="6459504"/>
            <a:ext cx="803564" cy="179113"/>
            <a:chOff x="235527" y="6522044"/>
            <a:chExt cx="803564" cy="179113"/>
          </a:xfrm>
        </p:grpSpPr>
        <p:sp>
          <p:nvSpPr>
            <p:cNvPr id="37" name="object 6">
              <a:extLst>
                <a:ext uri="{FF2B5EF4-FFF2-40B4-BE49-F238E27FC236}">
                  <a16:creationId xmlns:a16="http://schemas.microsoft.com/office/drawing/2014/main" id="{774F834D-BDF1-E00D-8CD5-062AB3F79A80}"/>
                </a:ext>
              </a:extLst>
            </p:cNvPr>
            <p:cNvSpPr/>
            <p:nvPr/>
          </p:nvSpPr>
          <p:spPr>
            <a:xfrm>
              <a:off x="235527" y="6531429"/>
              <a:ext cx="803564" cy="169728"/>
            </a:xfrm>
            <a:custGeom>
              <a:avLst/>
              <a:gdLst/>
              <a:ahLst/>
              <a:cxnLst/>
              <a:rect l="l" t="t" r="r" b="b"/>
              <a:pathLst>
                <a:path w="768350" h="190500">
                  <a:moveTo>
                    <a:pt x="0" y="95250"/>
                  </a:moveTo>
                  <a:lnTo>
                    <a:pt x="7485" y="58174"/>
                  </a:lnTo>
                  <a:lnTo>
                    <a:pt x="27898" y="27898"/>
                  </a:lnTo>
                  <a:lnTo>
                    <a:pt x="58174" y="7485"/>
                  </a:lnTo>
                  <a:lnTo>
                    <a:pt x="95249" y="0"/>
                  </a:lnTo>
                  <a:lnTo>
                    <a:pt x="672750" y="0"/>
                  </a:lnTo>
                  <a:lnTo>
                    <a:pt x="709825" y="7485"/>
                  </a:lnTo>
                  <a:lnTo>
                    <a:pt x="740101" y="27898"/>
                  </a:lnTo>
                  <a:lnTo>
                    <a:pt x="760514" y="58174"/>
                  </a:lnTo>
                  <a:lnTo>
                    <a:pt x="768000" y="95250"/>
                  </a:lnTo>
                  <a:lnTo>
                    <a:pt x="760514" y="132325"/>
                  </a:lnTo>
                  <a:lnTo>
                    <a:pt x="740101" y="162601"/>
                  </a:lnTo>
                  <a:lnTo>
                    <a:pt x="709825" y="183014"/>
                  </a:lnTo>
                  <a:lnTo>
                    <a:pt x="672750" y="190500"/>
                  </a:lnTo>
                  <a:lnTo>
                    <a:pt x="95249" y="190500"/>
                  </a:lnTo>
                  <a:lnTo>
                    <a:pt x="58174" y="183014"/>
                  </a:lnTo>
                  <a:lnTo>
                    <a:pt x="27898" y="162601"/>
                  </a:lnTo>
                  <a:lnTo>
                    <a:pt x="7485" y="132325"/>
                  </a:lnTo>
                  <a:lnTo>
                    <a:pt x="0" y="95250"/>
                  </a:lnTo>
                  <a:close/>
                </a:path>
              </a:pathLst>
            </a:custGeom>
            <a:ln w="9525">
              <a:solidFill>
                <a:srgbClr val="E0C782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object 7">
              <a:extLst>
                <a:ext uri="{FF2B5EF4-FFF2-40B4-BE49-F238E27FC236}">
                  <a16:creationId xmlns:a16="http://schemas.microsoft.com/office/drawing/2014/main" id="{249735BA-4D24-66F8-5E58-C6338F5545A5}"/>
                </a:ext>
              </a:extLst>
            </p:cNvPr>
            <p:cNvSpPr txBox="1"/>
            <p:nvPr/>
          </p:nvSpPr>
          <p:spPr>
            <a:xfrm>
              <a:off x="315574" y="6522044"/>
              <a:ext cx="644479" cy="155598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16933" defTabSz="1219170">
                <a:spcBef>
                  <a:spcPts val="133"/>
                </a:spcBef>
              </a:pPr>
              <a:r>
                <a:rPr sz="900" kern="0" spc="-13" dirty="0">
                  <a:solidFill>
                    <a:srgbClr val="E0C782"/>
                  </a:solidFill>
                  <a:latin typeface="Arial"/>
                  <a:cs typeface="Arial"/>
                </a:rPr>
                <a:t>Confidential</a:t>
              </a:r>
              <a:endParaRPr sz="900" kern="0" dirty="0">
                <a:solidFill>
                  <a:sysClr val="windowText" lastClr="000000"/>
                </a:solidFill>
                <a:latin typeface="Arial"/>
                <a:cs typeface="Arial"/>
              </a:endParaRPr>
            </a:p>
          </p:txBody>
        </p:sp>
      </p:grpSp>
      <p:pic>
        <p:nvPicPr>
          <p:cNvPr id="8" name="Picture 7" descr="A car on a tow truck&#10;&#10;AI-generated content may be incorrect.">
            <a:extLst>
              <a:ext uri="{FF2B5EF4-FFF2-40B4-BE49-F238E27FC236}">
                <a16:creationId xmlns:a16="http://schemas.microsoft.com/office/drawing/2014/main" id="{00856B84-63DA-C386-D9CA-A3436DD09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51"/>
          <a:stretch>
            <a:fillRect/>
          </a:stretch>
        </p:blipFill>
        <p:spPr>
          <a:xfrm>
            <a:off x="8204424" y="1822172"/>
            <a:ext cx="3714964" cy="3621341"/>
          </a:xfrm>
          <a:prstGeom prst="roundRect">
            <a:avLst/>
          </a:prstGeom>
        </p:spPr>
      </p:pic>
      <p:pic>
        <p:nvPicPr>
          <p:cNvPr id="9" name="Picture 8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7DC16121-FD91-E29A-D756-A59B5545BC9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9000"/>
          </a:blip>
          <a:stretch>
            <a:fillRect/>
          </a:stretch>
        </p:blipFill>
        <p:spPr>
          <a:xfrm>
            <a:off x="7842967" y="1465917"/>
            <a:ext cx="4202925" cy="40602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89A3685-FE47-8C1D-59D0-04C3FFCD4A91}"/>
              </a:ext>
            </a:extLst>
          </p:cNvPr>
          <p:cNvGrpSpPr/>
          <p:nvPr/>
        </p:nvGrpSpPr>
        <p:grpSpPr>
          <a:xfrm>
            <a:off x="757105" y="4218574"/>
            <a:ext cx="5501808" cy="1143505"/>
            <a:chOff x="800100" y="4419095"/>
            <a:chExt cx="5501808" cy="1143505"/>
          </a:xfrm>
        </p:grpSpPr>
        <p:sp>
          <p:nvSpPr>
            <p:cNvPr id="4" name="object 7">
              <a:extLst>
                <a:ext uri="{FF2B5EF4-FFF2-40B4-BE49-F238E27FC236}">
                  <a16:creationId xmlns:a16="http://schemas.microsoft.com/office/drawing/2014/main" id="{7FF656A8-26AA-09D0-7C05-C5FA828A55B3}"/>
                </a:ext>
              </a:extLst>
            </p:cNvPr>
            <p:cNvSpPr/>
            <p:nvPr/>
          </p:nvSpPr>
          <p:spPr>
            <a:xfrm>
              <a:off x="800100" y="4440397"/>
              <a:ext cx="5501808" cy="1122203"/>
            </a:xfrm>
            <a:custGeom>
              <a:avLst/>
              <a:gdLst/>
              <a:ahLst/>
              <a:cxnLst/>
              <a:rect l="l" t="t" r="r" b="b"/>
              <a:pathLst>
                <a:path w="1830070" h="360680">
                  <a:moveTo>
                    <a:pt x="1649551" y="0"/>
                  </a:moveTo>
                  <a:lnTo>
                    <a:pt x="180150" y="0"/>
                  </a:lnTo>
                  <a:lnTo>
                    <a:pt x="132259" y="6435"/>
                  </a:lnTo>
                  <a:lnTo>
                    <a:pt x="89225" y="24595"/>
                  </a:lnTo>
                  <a:lnTo>
                    <a:pt x="52764" y="52765"/>
                  </a:lnTo>
                  <a:lnTo>
                    <a:pt x="24595" y="89225"/>
                  </a:lnTo>
                  <a:lnTo>
                    <a:pt x="6435" y="132259"/>
                  </a:lnTo>
                  <a:lnTo>
                    <a:pt x="0" y="180149"/>
                  </a:lnTo>
                  <a:lnTo>
                    <a:pt x="6435" y="228040"/>
                  </a:lnTo>
                  <a:lnTo>
                    <a:pt x="24595" y="271074"/>
                  </a:lnTo>
                  <a:lnTo>
                    <a:pt x="52764" y="307535"/>
                  </a:lnTo>
                  <a:lnTo>
                    <a:pt x="89225" y="335704"/>
                  </a:lnTo>
                  <a:lnTo>
                    <a:pt x="132259" y="353865"/>
                  </a:lnTo>
                  <a:lnTo>
                    <a:pt x="180150" y="360300"/>
                  </a:lnTo>
                  <a:lnTo>
                    <a:pt x="1649549" y="360301"/>
                  </a:lnTo>
                  <a:lnTo>
                    <a:pt x="1697440" y="353866"/>
                  </a:lnTo>
                  <a:lnTo>
                    <a:pt x="1740474" y="335705"/>
                  </a:lnTo>
                  <a:lnTo>
                    <a:pt x="1776935" y="307537"/>
                  </a:lnTo>
                  <a:lnTo>
                    <a:pt x="1805104" y="271076"/>
                  </a:lnTo>
                  <a:lnTo>
                    <a:pt x="1823264" y="228042"/>
                  </a:lnTo>
                  <a:lnTo>
                    <a:pt x="1829702" y="180150"/>
                  </a:lnTo>
                  <a:lnTo>
                    <a:pt x="1823267" y="132259"/>
                  </a:lnTo>
                  <a:lnTo>
                    <a:pt x="1805106" y="89225"/>
                  </a:lnTo>
                  <a:lnTo>
                    <a:pt x="1776937" y="52765"/>
                  </a:lnTo>
                  <a:lnTo>
                    <a:pt x="1740477" y="24595"/>
                  </a:lnTo>
                  <a:lnTo>
                    <a:pt x="1697442" y="6435"/>
                  </a:lnTo>
                  <a:lnTo>
                    <a:pt x="1649551" y="0"/>
                  </a:lnTo>
                  <a:close/>
                </a:path>
              </a:pathLst>
            </a:custGeom>
            <a:solidFill>
              <a:srgbClr val="E4CE8F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10">
              <a:extLst>
                <a:ext uri="{FF2B5EF4-FFF2-40B4-BE49-F238E27FC236}">
                  <a16:creationId xmlns:a16="http://schemas.microsoft.com/office/drawing/2014/main" id="{2CC72892-3F7D-336C-46FA-078AB659E05B}"/>
                </a:ext>
              </a:extLst>
            </p:cNvPr>
            <p:cNvSpPr txBox="1"/>
            <p:nvPr/>
          </p:nvSpPr>
          <p:spPr>
            <a:xfrm>
              <a:off x="2596826" y="4419095"/>
              <a:ext cx="2129665" cy="324875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16933" algn="ctr" defTabSz="1219170">
                <a:spcBef>
                  <a:spcPts val="133"/>
                </a:spcBef>
              </a:pPr>
              <a:r>
                <a:rPr lang="en-US" sz="2000" b="1" u="sng" kern="0" spc="-53" dirty="0">
                  <a:solidFill>
                    <a:srgbClr val="012041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Verdana"/>
                </a:rPr>
                <a:t>Affinity Solution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8B22C1-B37E-63A2-8435-913E6B6618CA}"/>
                </a:ext>
              </a:extLst>
            </p:cNvPr>
            <p:cNvSpPr txBox="1"/>
            <p:nvPr/>
          </p:nvSpPr>
          <p:spPr>
            <a:xfrm>
              <a:off x="964398" y="4773537"/>
              <a:ext cx="514760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i="1" dirty="0">
                  <a:solidFill>
                    <a:srgbClr val="012041"/>
                  </a:solidFill>
                </a:rPr>
                <a:t>One turnkey program combining insurance &amp; telematics expertise for AAA tow operators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05E20DF-5FB8-D418-79E7-CCDF323C03D4}"/>
              </a:ext>
            </a:extLst>
          </p:cNvPr>
          <p:cNvSpPr txBox="1"/>
          <p:nvPr/>
        </p:nvSpPr>
        <p:spPr>
          <a:xfrm>
            <a:off x="1447385" y="5169952"/>
            <a:ext cx="675703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lang="en-US" i="1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Cut claims investigation time 25%+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Lower loss costs by up to 20%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Reduce fraud &amp; litigation with video evidence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Training &amp; compliance tools built for towing</a:t>
            </a: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FB61FBB9-C9E0-B61F-298B-B4CE86DC7DA1}"/>
              </a:ext>
            </a:extLst>
          </p:cNvPr>
          <p:cNvSpPr/>
          <p:nvPr/>
        </p:nvSpPr>
        <p:spPr>
          <a:xfrm>
            <a:off x="4295995" y="1533503"/>
            <a:ext cx="2640249" cy="544657"/>
          </a:xfrm>
          <a:custGeom>
            <a:avLst/>
            <a:gdLst/>
            <a:ahLst/>
            <a:cxnLst/>
            <a:rect l="l" t="t" r="r" b="b"/>
            <a:pathLst>
              <a:path w="1830070" h="360680">
                <a:moveTo>
                  <a:pt x="1649551" y="0"/>
                </a:moveTo>
                <a:lnTo>
                  <a:pt x="180150" y="0"/>
                </a:lnTo>
                <a:lnTo>
                  <a:pt x="132259" y="6435"/>
                </a:lnTo>
                <a:lnTo>
                  <a:pt x="89225" y="24595"/>
                </a:lnTo>
                <a:lnTo>
                  <a:pt x="52764" y="52765"/>
                </a:lnTo>
                <a:lnTo>
                  <a:pt x="24595" y="89225"/>
                </a:lnTo>
                <a:lnTo>
                  <a:pt x="6435" y="132259"/>
                </a:lnTo>
                <a:lnTo>
                  <a:pt x="0" y="180149"/>
                </a:lnTo>
                <a:lnTo>
                  <a:pt x="6435" y="228040"/>
                </a:lnTo>
                <a:lnTo>
                  <a:pt x="24595" y="271074"/>
                </a:lnTo>
                <a:lnTo>
                  <a:pt x="52764" y="307535"/>
                </a:lnTo>
                <a:lnTo>
                  <a:pt x="89225" y="335704"/>
                </a:lnTo>
                <a:lnTo>
                  <a:pt x="132259" y="353865"/>
                </a:lnTo>
                <a:lnTo>
                  <a:pt x="180150" y="360300"/>
                </a:lnTo>
                <a:lnTo>
                  <a:pt x="1649549" y="360301"/>
                </a:lnTo>
                <a:lnTo>
                  <a:pt x="1697440" y="353866"/>
                </a:lnTo>
                <a:lnTo>
                  <a:pt x="1740474" y="335705"/>
                </a:lnTo>
                <a:lnTo>
                  <a:pt x="1776935" y="307537"/>
                </a:lnTo>
                <a:lnTo>
                  <a:pt x="1805104" y="271076"/>
                </a:lnTo>
                <a:lnTo>
                  <a:pt x="1823264" y="228042"/>
                </a:lnTo>
                <a:lnTo>
                  <a:pt x="1829702" y="180150"/>
                </a:lnTo>
                <a:lnTo>
                  <a:pt x="1823267" y="132259"/>
                </a:lnTo>
                <a:lnTo>
                  <a:pt x="1805106" y="89225"/>
                </a:lnTo>
                <a:lnTo>
                  <a:pt x="1776937" y="52765"/>
                </a:lnTo>
                <a:lnTo>
                  <a:pt x="1740477" y="24595"/>
                </a:lnTo>
                <a:lnTo>
                  <a:pt x="1697442" y="6435"/>
                </a:lnTo>
                <a:lnTo>
                  <a:pt x="1649551" y="0"/>
                </a:lnTo>
                <a:close/>
              </a:path>
            </a:pathLst>
          </a:custGeom>
          <a:solidFill>
            <a:srgbClr val="E4CE8F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80AE42D0-9CCA-6F99-F1F7-F8C4515210C5}"/>
              </a:ext>
            </a:extLst>
          </p:cNvPr>
          <p:cNvSpPr txBox="1"/>
          <p:nvPr/>
        </p:nvSpPr>
        <p:spPr>
          <a:xfrm>
            <a:off x="4440847" y="1636985"/>
            <a:ext cx="2396211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 defTabSz="1219170">
              <a:spcBef>
                <a:spcPts val="133"/>
              </a:spcBef>
            </a:pPr>
            <a:r>
              <a:rPr lang="en-US" sz="2000" b="1" u="sng" kern="0" spc="-53" dirty="0">
                <a:solidFill>
                  <a:srgbClr val="012141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Verdana"/>
              </a:rPr>
              <a:t>Market Disconnect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4C78AD-BDFF-F749-ED2C-D0663A6866CF}"/>
              </a:ext>
            </a:extLst>
          </p:cNvPr>
          <p:cNvSpPr txBox="1"/>
          <p:nvPr/>
        </p:nvSpPr>
        <p:spPr>
          <a:xfrm>
            <a:off x="11723047" y="6357694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1C78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0351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7FB0B-9C0B-06D2-C0F6-07F897B37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EF42AD41-FC87-9940-03F4-737155EE5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7556"/>
            <a:ext cx="12192000" cy="176112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A0263BEC-D304-1790-22FE-08952CC292EC}"/>
              </a:ext>
            </a:extLst>
          </p:cNvPr>
          <p:cNvGrpSpPr/>
          <p:nvPr/>
        </p:nvGrpSpPr>
        <p:grpSpPr>
          <a:xfrm>
            <a:off x="196877" y="6459504"/>
            <a:ext cx="803564" cy="179113"/>
            <a:chOff x="235527" y="6522044"/>
            <a:chExt cx="803564" cy="179113"/>
          </a:xfrm>
        </p:grpSpPr>
        <p:sp>
          <p:nvSpPr>
            <p:cNvPr id="51" name="object 6">
              <a:extLst>
                <a:ext uri="{FF2B5EF4-FFF2-40B4-BE49-F238E27FC236}">
                  <a16:creationId xmlns:a16="http://schemas.microsoft.com/office/drawing/2014/main" id="{E3643E96-7949-865C-63E6-638E05355A94}"/>
                </a:ext>
              </a:extLst>
            </p:cNvPr>
            <p:cNvSpPr/>
            <p:nvPr/>
          </p:nvSpPr>
          <p:spPr>
            <a:xfrm>
              <a:off x="235527" y="6531429"/>
              <a:ext cx="803564" cy="169728"/>
            </a:xfrm>
            <a:custGeom>
              <a:avLst/>
              <a:gdLst/>
              <a:ahLst/>
              <a:cxnLst/>
              <a:rect l="l" t="t" r="r" b="b"/>
              <a:pathLst>
                <a:path w="768350" h="190500">
                  <a:moveTo>
                    <a:pt x="0" y="95250"/>
                  </a:moveTo>
                  <a:lnTo>
                    <a:pt x="7485" y="58174"/>
                  </a:lnTo>
                  <a:lnTo>
                    <a:pt x="27898" y="27898"/>
                  </a:lnTo>
                  <a:lnTo>
                    <a:pt x="58174" y="7485"/>
                  </a:lnTo>
                  <a:lnTo>
                    <a:pt x="95249" y="0"/>
                  </a:lnTo>
                  <a:lnTo>
                    <a:pt x="672750" y="0"/>
                  </a:lnTo>
                  <a:lnTo>
                    <a:pt x="709825" y="7485"/>
                  </a:lnTo>
                  <a:lnTo>
                    <a:pt x="740101" y="27898"/>
                  </a:lnTo>
                  <a:lnTo>
                    <a:pt x="760514" y="58174"/>
                  </a:lnTo>
                  <a:lnTo>
                    <a:pt x="768000" y="95250"/>
                  </a:lnTo>
                  <a:lnTo>
                    <a:pt x="760514" y="132325"/>
                  </a:lnTo>
                  <a:lnTo>
                    <a:pt x="740101" y="162601"/>
                  </a:lnTo>
                  <a:lnTo>
                    <a:pt x="709825" y="183014"/>
                  </a:lnTo>
                  <a:lnTo>
                    <a:pt x="672750" y="190500"/>
                  </a:lnTo>
                  <a:lnTo>
                    <a:pt x="95249" y="190500"/>
                  </a:lnTo>
                  <a:lnTo>
                    <a:pt x="58174" y="183014"/>
                  </a:lnTo>
                  <a:lnTo>
                    <a:pt x="27898" y="162601"/>
                  </a:lnTo>
                  <a:lnTo>
                    <a:pt x="7485" y="132325"/>
                  </a:lnTo>
                  <a:lnTo>
                    <a:pt x="0" y="95250"/>
                  </a:lnTo>
                  <a:close/>
                </a:path>
              </a:pathLst>
            </a:custGeom>
            <a:ln w="9525">
              <a:solidFill>
                <a:srgbClr val="E0C782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bject 7">
              <a:extLst>
                <a:ext uri="{FF2B5EF4-FFF2-40B4-BE49-F238E27FC236}">
                  <a16:creationId xmlns:a16="http://schemas.microsoft.com/office/drawing/2014/main" id="{E4355B48-52BF-BD20-FE5A-AE2E5C1D03CA}"/>
                </a:ext>
              </a:extLst>
            </p:cNvPr>
            <p:cNvSpPr txBox="1"/>
            <p:nvPr/>
          </p:nvSpPr>
          <p:spPr>
            <a:xfrm>
              <a:off x="315574" y="6522044"/>
              <a:ext cx="644479" cy="107359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16933" defTabSz="1219170">
                <a:spcBef>
                  <a:spcPts val="133"/>
                </a:spcBef>
              </a:pPr>
              <a:r>
                <a:rPr sz="933" kern="0" spc="-13" dirty="0">
                  <a:solidFill>
                    <a:srgbClr val="E0C782"/>
                  </a:solidFill>
                  <a:latin typeface="Arial"/>
                  <a:cs typeface="Arial"/>
                </a:rPr>
                <a:t>Confidential</a:t>
              </a:r>
              <a:endParaRPr sz="933" kern="0" dirty="0">
                <a:solidFill>
                  <a:sysClr val="windowText" lastClr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0CA23DE4-024B-C2ED-C616-D33783B54E06}"/>
              </a:ext>
            </a:extLst>
          </p:cNvPr>
          <p:cNvSpPr txBox="1"/>
          <p:nvPr/>
        </p:nvSpPr>
        <p:spPr>
          <a:xfrm>
            <a:off x="11723047" y="6357694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1C782"/>
                </a:solidFill>
              </a:rPr>
              <a:t>3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C751DDBB-F4ED-F6A1-19FA-2BA716AB78B8}"/>
              </a:ext>
            </a:extLst>
          </p:cNvPr>
          <p:cNvSpPr/>
          <p:nvPr/>
        </p:nvSpPr>
        <p:spPr>
          <a:xfrm>
            <a:off x="487680" y="1667255"/>
            <a:ext cx="4267200" cy="3980688"/>
          </a:xfrm>
          <a:prstGeom prst="rect">
            <a:avLst/>
          </a:prstGeom>
          <a:solidFill>
            <a:srgbClr val="0B1A3E"/>
          </a:solidFill>
          <a:ln w="12700">
            <a:solidFill>
              <a:srgbClr val="1E409A"/>
            </a:solidFill>
            <a:prstDash val="solid"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991CF0B0-50B6-5EF7-F43E-2A86E7429907}"/>
              </a:ext>
            </a:extLst>
          </p:cNvPr>
          <p:cNvSpPr/>
          <p:nvPr/>
        </p:nvSpPr>
        <p:spPr>
          <a:xfrm>
            <a:off x="487680" y="1667255"/>
            <a:ext cx="4267200" cy="121920"/>
          </a:xfrm>
          <a:prstGeom prst="rect">
            <a:avLst/>
          </a:prstGeom>
          <a:solidFill>
            <a:srgbClr val="E3CE90"/>
          </a:solidFill>
          <a:ln w="12700">
            <a:solidFill>
              <a:srgbClr val="E3CE9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8134E0B-D77B-EEDD-1B5E-09448A62D41F}"/>
              </a:ext>
            </a:extLst>
          </p:cNvPr>
          <p:cNvSpPr/>
          <p:nvPr/>
        </p:nvSpPr>
        <p:spPr>
          <a:xfrm>
            <a:off x="731520" y="3703319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AmTrust</a:t>
            </a:r>
            <a:endParaRPr lang="en-US" sz="32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D224F476-F212-541C-310D-6DB896C2457F}"/>
              </a:ext>
            </a:extLst>
          </p:cNvPr>
          <p:cNvSpPr/>
          <p:nvPr/>
        </p:nvSpPr>
        <p:spPr>
          <a:xfrm>
            <a:off x="731520" y="4349495"/>
            <a:ext cx="3779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Workers' Comp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in the U.S.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86A6B33-C346-981F-6541-D80FD7104600}"/>
              </a:ext>
            </a:extLst>
          </p:cNvPr>
          <p:cNvSpPr/>
          <p:nvPr/>
        </p:nvSpPr>
        <p:spPr>
          <a:xfrm>
            <a:off x="755904" y="5227319"/>
            <a:ext cx="3730752" cy="48768"/>
          </a:xfrm>
          <a:prstGeom prst="rect">
            <a:avLst/>
          </a:prstGeom>
          <a:solidFill>
            <a:srgbClr val="E3CE90"/>
          </a:solidFill>
          <a:ln w="12700">
            <a:solidFill>
              <a:srgbClr val="E3CE9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4229AEE-50A6-6DEA-2B2C-D57BA3F5755C}"/>
              </a:ext>
            </a:extLst>
          </p:cNvPr>
          <p:cNvGrpSpPr/>
          <p:nvPr/>
        </p:nvGrpSpPr>
        <p:grpSpPr>
          <a:xfrm>
            <a:off x="5120640" y="1499616"/>
            <a:ext cx="6608064" cy="877824"/>
            <a:chOff x="5120640" y="1499616"/>
            <a:chExt cx="6608064" cy="877824"/>
          </a:xfrm>
        </p:grpSpPr>
        <p:sp>
          <p:nvSpPr>
            <p:cNvPr id="10" name="Shape 12">
              <a:extLst>
                <a:ext uri="{FF2B5EF4-FFF2-40B4-BE49-F238E27FC236}">
                  <a16:creationId xmlns:a16="http://schemas.microsoft.com/office/drawing/2014/main" id="{720F9B3C-E7EA-08B4-CE0C-5BDB3D269545}"/>
                </a:ext>
              </a:extLst>
            </p:cNvPr>
            <p:cNvSpPr/>
            <p:nvPr/>
          </p:nvSpPr>
          <p:spPr>
            <a:xfrm>
              <a:off x="5120640" y="1499616"/>
              <a:ext cx="6608064" cy="8778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11" name="Image 1" descr="preencoded.png">
              <a:extLst>
                <a:ext uri="{FF2B5EF4-FFF2-40B4-BE49-F238E27FC236}">
                  <a16:creationId xmlns:a16="http://schemas.microsoft.com/office/drawing/2014/main" id="{3AE81B72-F51C-A41A-62C6-54DD3A21C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1328" y="1743456"/>
              <a:ext cx="390144" cy="390144"/>
            </a:xfrm>
            <a:prstGeom prst="rect">
              <a:avLst/>
            </a:prstGeom>
          </p:spPr>
        </p:pic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54369A05-CB93-8466-4B60-77952D09AD5B}"/>
                </a:ext>
              </a:extLst>
            </p:cNvPr>
            <p:cNvSpPr/>
            <p:nvPr/>
          </p:nvSpPr>
          <p:spPr>
            <a:xfrm>
              <a:off x="5827776" y="1548384"/>
              <a:ext cx="568147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dirty="0">
                  <a:solidFill>
                    <a:srgbClr val="0B1A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50-State Coverage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31850498-9C1E-333F-2272-5AAC6B81DDEB}"/>
                </a:ext>
              </a:extLst>
            </p:cNvPr>
            <p:cNvSpPr/>
            <p:nvPr/>
          </p:nvSpPr>
          <p:spPr>
            <a:xfrm>
              <a:off x="5827776" y="1926336"/>
              <a:ext cx="568147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400" dirty="0">
                  <a:solidFill>
                    <a:srgbClr val="1A1F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gaps, no carve-outs — fully multi-state for operators crossing state lines.</a:t>
              </a:r>
              <a:endParaRPr lang="en-US" sz="1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8DD678-9D97-5F38-FEB2-D00DBD4044D7}"/>
              </a:ext>
            </a:extLst>
          </p:cNvPr>
          <p:cNvGrpSpPr/>
          <p:nvPr/>
        </p:nvGrpSpPr>
        <p:grpSpPr>
          <a:xfrm>
            <a:off x="5120640" y="2816352"/>
            <a:ext cx="6608064" cy="877824"/>
            <a:chOff x="5120640" y="2487168"/>
            <a:chExt cx="6608064" cy="877824"/>
          </a:xfrm>
        </p:grpSpPr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9EC46FC2-048A-E412-1124-E998CABCC611}"/>
                </a:ext>
              </a:extLst>
            </p:cNvPr>
            <p:cNvSpPr/>
            <p:nvPr/>
          </p:nvSpPr>
          <p:spPr>
            <a:xfrm>
              <a:off x="5120640" y="2487168"/>
              <a:ext cx="6608064" cy="8778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20" name="Image 2" descr="preencoded.png">
              <a:extLst>
                <a:ext uri="{FF2B5EF4-FFF2-40B4-BE49-F238E27FC236}">
                  <a16:creationId xmlns:a16="http://schemas.microsoft.com/office/drawing/2014/main" id="{32DF617D-1C20-8F0F-EE3D-6B2FFC278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1328" y="2731008"/>
              <a:ext cx="390144" cy="390144"/>
            </a:xfrm>
            <a:prstGeom prst="rect">
              <a:avLst/>
            </a:prstGeom>
          </p:spPr>
        </p:pic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B6C8B8F1-BCA2-549B-C817-F20A8D212DC5}"/>
                </a:ext>
              </a:extLst>
            </p:cNvPr>
            <p:cNvSpPr/>
            <p:nvPr/>
          </p:nvSpPr>
          <p:spPr>
            <a:xfrm>
              <a:off x="5827776" y="2535936"/>
              <a:ext cx="568147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dirty="0">
                  <a:solidFill>
                    <a:srgbClr val="0B1A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Below-Market Pricing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2" name="Text 17">
              <a:extLst>
                <a:ext uri="{FF2B5EF4-FFF2-40B4-BE49-F238E27FC236}">
                  <a16:creationId xmlns:a16="http://schemas.microsoft.com/office/drawing/2014/main" id="{E29A10E5-CFF2-B807-EC4C-86DC31CA2916}"/>
                </a:ext>
              </a:extLst>
            </p:cNvPr>
            <p:cNvSpPr/>
            <p:nvPr/>
          </p:nvSpPr>
          <p:spPr>
            <a:xfrm>
              <a:off x="5827776" y="2913888"/>
              <a:ext cx="568147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400" dirty="0">
                  <a:solidFill>
                    <a:srgbClr val="1A1F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Exclusive rates for qualifying contractors. Savings are available immediately.</a:t>
              </a:r>
              <a:endParaRPr lang="en-US" sz="1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B754720-2FE3-C27D-C3CB-E2D7C0557F2F}"/>
              </a:ext>
            </a:extLst>
          </p:cNvPr>
          <p:cNvGrpSpPr/>
          <p:nvPr/>
        </p:nvGrpSpPr>
        <p:grpSpPr>
          <a:xfrm>
            <a:off x="5120640" y="4133088"/>
            <a:ext cx="6608064" cy="877824"/>
            <a:chOff x="5120640" y="3474720"/>
            <a:chExt cx="6608064" cy="877824"/>
          </a:xfrm>
        </p:grpSpPr>
        <p:sp>
          <p:nvSpPr>
            <p:cNvPr id="26" name="Shape 18">
              <a:extLst>
                <a:ext uri="{FF2B5EF4-FFF2-40B4-BE49-F238E27FC236}">
                  <a16:creationId xmlns:a16="http://schemas.microsoft.com/office/drawing/2014/main" id="{DE4DEE5D-BA2E-E5AD-B802-C95E7E55CA3C}"/>
                </a:ext>
              </a:extLst>
            </p:cNvPr>
            <p:cNvSpPr/>
            <p:nvPr/>
          </p:nvSpPr>
          <p:spPr>
            <a:xfrm>
              <a:off x="5120640" y="3474720"/>
              <a:ext cx="6608064" cy="8778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27" name="Image 3" descr="preencoded.png">
              <a:extLst>
                <a:ext uri="{FF2B5EF4-FFF2-40B4-BE49-F238E27FC236}">
                  <a16:creationId xmlns:a16="http://schemas.microsoft.com/office/drawing/2014/main" id="{74228FBA-9D1A-C2C2-2A8A-9C3ADF258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1328" y="3718560"/>
              <a:ext cx="390144" cy="390144"/>
            </a:xfrm>
            <a:prstGeom prst="rect">
              <a:avLst/>
            </a:prstGeom>
          </p:spPr>
        </p:pic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EDE2685B-E3C7-6668-84DD-EC880435F4C7}"/>
                </a:ext>
              </a:extLst>
            </p:cNvPr>
            <p:cNvSpPr/>
            <p:nvPr/>
          </p:nvSpPr>
          <p:spPr>
            <a:xfrm>
              <a:off x="5827776" y="3523488"/>
              <a:ext cx="568147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dirty="0">
                  <a:solidFill>
                    <a:srgbClr val="0B1A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PAYO Cash-Flow Billing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" name="Text 20">
              <a:extLst>
                <a:ext uri="{FF2B5EF4-FFF2-40B4-BE49-F238E27FC236}">
                  <a16:creationId xmlns:a16="http://schemas.microsoft.com/office/drawing/2014/main" id="{11642704-40A2-C427-A3C5-F7783BB1D6F4}"/>
                </a:ext>
              </a:extLst>
            </p:cNvPr>
            <p:cNvSpPr/>
            <p:nvPr/>
          </p:nvSpPr>
          <p:spPr>
            <a:xfrm>
              <a:off x="5827776" y="3901440"/>
              <a:ext cx="568147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400" dirty="0">
                  <a:solidFill>
                    <a:srgbClr val="1A1F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Premiums calculated from actual payroll each period — Ideal for seasonal or variable-volume operations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E0BDC0A-C412-B3CF-3459-CD655F4BF820}"/>
              </a:ext>
            </a:extLst>
          </p:cNvPr>
          <p:cNvGrpSpPr/>
          <p:nvPr/>
        </p:nvGrpSpPr>
        <p:grpSpPr>
          <a:xfrm>
            <a:off x="5120640" y="5449824"/>
            <a:ext cx="6608064" cy="877824"/>
            <a:chOff x="5120640" y="5449824"/>
            <a:chExt cx="6608064" cy="877824"/>
          </a:xfrm>
        </p:grpSpPr>
        <p:sp>
          <p:nvSpPr>
            <p:cNvPr id="31" name="Shape 24">
              <a:extLst>
                <a:ext uri="{FF2B5EF4-FFF2-40B4-BE49-F238E27FC236}">
                  <a16:creationId xmlns:a16="http://schemas.microsoft.com/office/drawing/2014/main" id="{84CAFD88-507E-4096-BB53-9D41FA02F214}"/>
                </a:ext>
              </a:extLst>
            </p:cNvPr>
            <p:cNvSpPr/>
            <p:nvPr/>
          </p:nvSpPr>
          <p:spPr>
            <a:xfrm>
              <a:off x="5120640" y="5449824"/>
              <a:ext cx="6608064" cy="8778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32" name="Image 5" descr="preencoded.png">
              <a:extLst>
                <a:ext uri="{FF2B5EF4-FFF2-40B4-BE49-F238E27FC236}">
                  <a16:creationId xmlns:a16="http://schemas.microsoft.com/office/drawing/2014/main" id="{A6B4F865-BC68-89C6-CF8B-62CF2046F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1328" y="5693664"/>
              <a:ext cx="390144" cy="390144"/>
            </a:xfrm>
            <a:prstGeom prst="rect">
              <a:avLst/>
            </a:prstGeom>
          </p:spPr>
        </p:pic>
        <p:sp>
          <p:nvSpPr>
            <p:cNvPr id="33" name="Text 25">
              <a:extLst>
                <a:ext uri="{FF2B5EF4-FFF2-40B4-BE49-F238E27FC236}">
                  <a16:creationId xmlns:a16="http://schemas.microsoft.com/office/drawing/2014/main" id="{B618095B-8EA4-23DA-A768-2A3CB73973AD}"/>
                </a:ext>
              </a:extLst>
            </p:cNvPr>
            <p:cNvSpPr/>
            <p:nvPr/>
          </p:nvSpPr>
          <p:spPr>
            <a:xfrm>
              <a:off x="5827776" y="5498592"/>
              <a:ext cx="568147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dirty="0">
                  <a:solidFill>
                    <a:srgbClr val="0B1A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Exclusive Access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Text 26">
              <a:extLst>
                <a:ext uri="{FF2B5EF4-FFF2-40B4-BE49-F238E27FC236}">
                  <a16:creationId xmlns:a16="http://schemas.microsoft.com/office/drawing/2014/main" id="{78B34C7A-64E9-0063-D6DB-BE3188C57F2B}"/>
                </a:ext>
              </a:extLst>
            </p:cNvPr>
            <p:cNvSpPr/>
            <p:nvPr/>
          </p:nvSpPr>
          <p:spPr>
            <a:xfrm>
              <a:off x="5827776" y="5876544"/>
              <a:ext cx="568147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400" dirty="0">
                  <a:solidFill>
                    <a:srgbClr val="1A1F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Only available through Affinity. No other broker, MGA, or carrier can offer this program.</a:t>
              </a:r>
              <a:endParaRPr lang="en-US" sz="1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80C166E-7E76-281B-C6D5-9A1C678307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20" t="16561" r="10231" b="12526"/>
          <a:stretch>
            <a:fillRect/>
          </a:stretch>
        </p:blipFill>
        <p:spPr>
          <a:xfrm>
            <a:off x="1748116" y="2235079"/>
            <a:ext cx="1498035" cy="1280160"/>
          </a:xfrm>
          <a:prstGeom prst="rect">
            <a:avLst/>
          </a:prstGeom>
        </p:spPr>
      </p:pic>
      <p:sp>
        <p:nvSpPr>
          <p:cNvPr id="43" name="Shape 0">
            <a:extLst>
              <a:ext uri="{FF2B5EF4-FFF2-40B4-BE49-F238E27FC236}">
                <a16:creationId xmlns:a16="http://schemas.microsoft.com/office/drawing/2014/main" id="{F956EE92-A0C4-1BAB-59DE-A479BEC5788C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Shape 1">
            <a:extLst>
              <a:ext uri="{FF2B5EF4-FFF2-40B4-BE49-F238E27FC236}">
                <a16:creationId xmlns:a16="http://schemas.microsoft.com/office/drawing/2014/main" id="{BBEF2079-6B5C-6F8D-5E40-357A58685F1E}"/>
              </a:ext>
            </a:extLst>
          </p:cNvPr>
          <p:cNvSpPr/>
          <p:nvPr/>
        </p:nvSpPr>
        <p:spPr>
          <a:xfrm>
            <a:off x="0" y="0"/>
            <a:ext cx="487680" cy="829056"/>
          </a:xfrm>
          <a:prstGeom prst="rect">
            <a:avLst/>
          </a:prstGeom>
          <a:solidFill>
            <a:srgbClr val="E3CE90"/>
          </a:solidFill>
          <a:ln w="12700">
            <a:solidFill>
              <a:srgbClr val="E3CE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5AD1AF16-4BFC-7585-D4C8-88F92D9E6F2B}"/>
              </a:ext>
            </a:extLst>
          </p:cNvPr>
          <p:cNvSpPr/>
          <p:nvPr/>
        </p:nvSpPr>
        <p:spPr>
          <a:xfrm>
            <a:off x="731520" y="48768"/>
            <a:ext cx="109728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933" marR="0" lvl="0" indent="0" algn="l" defTabSz="914400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0" cap="none" spc="-272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harter Roman" panose="02040503050506020203" pitchFamily="18" charset="0"/>
                <a:ea typeface="+mn-ea"/>
                <a:cs typeface="+mn-cs"/>
              </a:rPr>
              <a:t>Workers Comp</a:t>
            </a:r>
            <a:endParaRPr kumimoji="0" lang="en-US" sz="4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harter Roman" panose="020405030505060202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268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EB843-1868-64AF-6658-826116910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D13955-4035-1CF9-8354-37D1AF702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7556"/>
            <a:ext cx="12192000" cy="17611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E3ECFA0-C30D-8927-7466-C7CE0B613F55}"/>
              </a:ext>
            </a:extLst>
          </p:cNvPr>
          <p:cNvGrpSpPr/>
          <p:nvPr/>
        </p:nvGrpSpPr>
        <p:grpSpPr>
          <a:xfrm>
            <a:off x="196877" y="6459504"/>
            <a:ext cx="803564" cy="179113"/>
            <a:chOff x="235527" y="6522044"/>
            <a:chExt cx="803564" cy="179113"/>
          </a:xfrm>
        </p:grpSpPr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207BEB47-8BCF-9DAA-EDED-F4523F43F97D}"/>
                </a:ext>
              </a:extLst>
            </p:cNvPr>
            <p:cNvSpPr/>
            <p:nvPr/>
          </p:nvSpPr>
          <p:spPr>
            <a:xfrm>
              <a:off x="235527" y="6531429"/>
              <a:ext cx="803564" cy="169728"/>
            </a:xfrm>
            <a:custGeom>
              <a:avLst/>
              <a:gdLst/>
              <a:ahLst/>
              <a:cxnLst/>
              <a:rect l="l" t="t" r="r" b="b"/>
              <a:pathLst>
                <a:path w="768350" h="190500">
                  <a:moveTo>
                    <a:pt x="0" y="95250"/>
                  </a:moveTo>
                  <a:lnTo>
                    <a:pt x="7485" y="58174"/>
                  </a:lnTo>
                  <a:lnTo>
                    <a:pt x="27898" y="27898"/>
                  </a:lnTo>
                  <a:lnTo>
                    <a:pt x="58174" y="7485"/>
                  </a:lnTo>
                  <a:lnTo>
                    <a:pt x="95249" y="0"/>
                  </a:lnTo>
                  <a:lnTo>
                    <a:pt x="672750" y="0"/>
                  </a:lnTo>
                  <a:lnTo>
                    <a:pt x="709825" y="7485"/>
                  </a:lnTo>
                  <a:lnTo>
                    <a:pt x="740101" y="27898"/>
                  </a:lnTo>
                  <a:lnTo>
                    <a:pt x="760514" y="58174"/>
                  </a:lnTo>
                  <a:lnTo>
                    <a:pt x="768000" y="95250"/>
                  </a:lnTo>
                  <a:lnTo>
                    <a:pt x="760514" y="132325"/>
                  </a:lnTo>
                  <a:lnTo>
                    <a:pt x="740101" y="162601"/>
                  </a:lnTo>
                  <a:lnTo>
                    <a:pt x="709825" y="183014"/>
                  </a:lnTo>
                  <a:lnTo>
                    <a:pt x="672750" y="190500"/>
                  </a:lnTo>
                  <a:lnTo>
                    <a:pt x="95249" y="190500"/>
                  </a:lnTo>
                  <a:lnTo>
                    <a:pt x="58174" y="183014"/>
                  </a:lnTo>
                  <a:lnTo>
                    <a:pt x="27898" y="162601"/>
                  </a:lnTo>
                  <a:lnTo>
                    <a:pt x="7485" y="132325"/>
                  </a:lnTo>
                  <a:lnTo>
                    <a:pt x="0" y="95250"/>
                  </a:lnTo>
                  <a:close/>
                </a:path>
              </a:pathLst>
            </a:custGeom>
            <a:ln w="9525">
              <a:solidFill>
                <a:srgbClr val="E0C782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object 7">
              <a:extLst>
                <a:ext uri="{FF2B5EF4-FFF2-40B4-BE49-F238E27FC236}">
                  <a16:creationId xmlns:a16="http://schemas.microsoft.com/office/drawing/2014/main" id="{753D7373-1C21-4D91-889A-4BD9E3B15D10}"/>
                </a:ext>
              </a:extLst>
            </p:cNvPr>
            <p:cNvSpPr txBox="1"/>
            <p:nvPr/>
          </p:nvSpPr>
          <p:spPr>
            <a:xfrm>
              <a:off x="315574" y="6522044"/>
              <a:ext cx="644479" cy="107359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16933" defTabSz="1219170">
                <a:spcBef>
                  <a:spcPts val="133"/>
                </a:spcBef>
              </a:pPr>
              <a:r>
                <a:rPr sz="933" kern="0" spc="-13" dirty="0">
                  <a:solidFill>
                    <a:srgbClr val="E0C782"/>
                  </a:solidFill>
                  <a:latin typeface="Arial"/>
                  <a:cs typeface="Arial"/>
                </a:rPr>
                <a:t>Confidential</a:t>
              </a:r>
              <a:endParaRPr sz="933" kern="0" dirty="0">
                <a:solidFill>
                  <a:sysClr val="windowText" lastClr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3" name="Shape 4">
            <a:extLst>
              <a:ext uri="{FF2B5EF4-FFF2-40B4-BE49-F238E27FC236}">
                <a16:creationId xmlns:a16="http://schemas.microsoft.com/office/drawing/2014/main" id="{470DD36E-313C-86F7-BD80-E12E74540CD4}"/>
              </a:ext>
            </a:extLst>
          </p:cNvPr>
          <p:cNvSpPr/>
          <p:nvPr/>
        </p:nvSpPr>
        <p:spPr>
          <a:xfrm>
            <a:off x="420658" y="1557245"/>
            <a:ext cx="5608320" cy="451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3EA8B5DA-3880-5A82-0F7F-4BCDC75A2874}"/>
              </a:ext>
            </a:extLst>
          </p:cNvPr>
          <p:cNvSpPr/>
          <p:nvPr/>
        </p:nvSpPr>
        <p:spPr>
          <a:xfrm>
            <a:off x="420658" y="1557245"/>
            <a:ext cx="5608320" cy="146304"/>
          </a:xfrm>
          <a:prstGeom prst="rect">
            <a:avLst/>
          </a:prstGeom>
          <a:solidFill>
            <a:srgbClr val="0B1A3E"/>
          </a:solidFill>
          <a:ln w="12700">
            <a:solidFill>
              <a:srgbClr val="2A4494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F7CE675-8640-CADC-65EE-5324CADBE164}"/>
              </a:ext>
            </a:extLst>
          </p:cNvPr>
          <p:cNvSpPr/>
          <p:nvPr/>
        </p:nvSpPr>
        <p:spPr>
          <a:xfrm>
            <a:off x="603538" y="2325341"/>
            <a:ext cx="463296" cy="46329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B1145645-71B2-B399-015B-09D6EA28B4A5}"/>
              </a:ext>
            </a:extLst>
          </p:cNvPr>
          <p:cNvSpPr/>
          <p:nvPr/>
        </p:nvSpPr>
        <p:spPr>
          <a:xfrm>
            <a:off x="603538" y="2325341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C27D3D4-96F0-4D14-3B6B-B569B736000D}"/>
              </a:ext>
            </a:extLst>
          </p:cNvPr>
          <p:cNvSpPr/>
          <p:nvPr/>
        </p:nvSpPr>
        <p:spPr>
          <a:xfrm>
            <a:off x="1213138" y="2325341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 collects driving behavior &amp; usage data in real time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72383F47-A185-1BE7-9954-EC2DDA99DEF2}"/>
              </a:ext>
            </a:extLst>
          </p:cNvPr>
          <p:cNvSpPr/>
          <p:nvPr/>
        </p:nvSpPr>
        <p:spPr>
          <a:xfrm>
            <a:off x="603538" y="3032477"/>
            <a:ext cx="463296" cy="46329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12100B66-5309-7715-293D-19328EE259F4}"/>
              </a:ext>
            </a:extLst>
          </p:cNvPr>
          <p:cNvSpPr/>
          <p:nvPr/>
        </p:nvSpPr>
        <p:spPr>
          <a:xfrm>
            <a:off x="603538" y="3032477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B3EE8592-32CC-110A-624A-782FE6DBE3F9}"/>
              </a:ext>
            </a:extLst>
          </p:cNvPr>
          <p:cNvSpPr/>
          <p:nvPr/>
        </p:nvSpPr>
        <p:spPr>
          <a:xfrm>
            <a:off x="1213138" y="3032477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determined by miles driven + driver behavior (not just VINs)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8E9EF780-4E92-2A4A-875A-4218B7F318E7}"/>
              </a:ext>
            </a:extLst>
          </p:cNvPr>
          <p:cNvSpPr/>
          <p:nvPr/>
        </p:nvSpPr>
        <p:spPr>
          <a:xfrm>
            <a:off x="603538" y="3739613"/>
            <a:ext cx="463296" cy="46329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519F77B2-1B5F-780E-99EA-9C906F9C9CF0}"/>
              </a:ext>
            </a:extLst>
          </p:cNvPr>
          <p:cNvSpPr/>
          <p:nvPr/>
        </p:nvSpPr>
        <p:spPr>
          <a:xfrm>
            <a:off x="603538" y="3739613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0CDFD54C-9E1D-6ED5-0E79-C0D9E4A49CEA}"/>
              </a:ext>
            </a:extLst>
          </p:cNvPr>
          <p:cNvSpPr/>
          <p:nvPr/>
        </p:nvSpPr>
        <p:spPr>
          <a:xfrm>
            <a:off x="1213138" y="3739613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operators vs day-only operators priced accordingly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D9FE48B8-CFB5-FCA5-0CB2-AAF80C8DEA8F}"/>
              </a:ext>
            </a:extLst>
          </p:cNvPr>
          <p:cNvSpPr/>
          <p:nvPr/>
        </p:nvSpPr>
        <p:spPr>
          <a:xfrm>
            <a:off x="603538" y="4446749"/>
            <a:ext cx="463296" cy="46329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C2860BA4-CAC9-99C9-4D14-1034DA093404}"/>
              </a:ext>
            </a:extLst>
          </p:cNvPr>
          <p:cNvSpPr/>
          <p:nvPr/>
        </p:nvSpPr>
        <p:spPr>
          <a:xfrm>
            <a:off x="603538" y="4446749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A8CFCF8F-CD4C-2D2E-A48C-A5334F7BD8B8}"/>
              </a:ext>
            </a:extLst>
          </p:cNvPr>
          <p:cNvSpPr/>
          <p:nvPr/>
        </p:nvSpPr>
        <p:spPr>
          <a:xfrm>
            <a:off x="1213138" y="4446749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in maintenance &amp; off-road excluded from active rating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A7DFFA25-4A11-004A-F6EA-F9437297CCF4}"/>
              </a:ext>
            </a:extLst>
          </p:cNvPr>
          <p:cNvSpPr/>
          <p:nvPr/>
        </p:nvSpPr>
        <p:spPr>
          <a:xfrm>
            <a:off x="603538" y="5153885"/>
            <a:ext cx="463296" cy="46329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D85C31CD-52E0-C7B1-53D5-AB14B6662DBB}"/>
              </a:ext>
            </a:extLst>
          </p:cNvPr>
          <p:cNvSpPr/>
          <p:nvPr/>
        </p:nvSpPr>
        <p:spPr>
          <a:xfrm>
            <a:off x="603538" y="5153885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E50BD103-B7E2-AF9A-B0A4-E5F89CB5FF49}"/>
              </a:ext>
            </a:extLst>
          </p:cNvPr>
          <p:cNvSpPr/>
          <p:nvPr/>
        </p:nvSpPr>
        <p:spPr>
          <a:xfrm>
            <a:off x="1213138" y="5153885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billing based on actual usage — no overpaying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AFF6B515-A8F1-BC6C-1013-748E0943F312}"/>
              </a:ext>
            </a:extLst>
          </p:cNvPr>
          <p:cNvSpPr/>
          <p:nvPr/>
        </p:nvSpPr>
        <p:spPr>
          <a:xfrm>
            <a:off x="6175282" y="1557245"/>
            <a:ext cx="5364480" cy="45110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0690E6BC-3C6D-E944-DD6E-7B80E2B76C23}"/>
              </a:ext>
            </a:extLst>
          </p:cNvPr>
          <p:cNvSpPr/>
          <p:nvPr/>
        </p:nvSpPr>
        <p:spPr>
          <a:xfrm>
            <a:off x="6175282" y="1557245"/>
            <a:ext cx="5364480" cy="146304"/>
          </a:xfrm>
          <a:prstGeom prst="rect">
            <a:avLst/>
          </a:prstGeom>
          <a:solidFill>
            <a:srgbClr val="E3CE90"/>
          </a:solidFill>
          <a:ln w="12700">
            <a:solidFill>
              <a:srgbClr val="E3CE90"/>
            </a:solidFill>
            <a:prstDash val="solid"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6A42BA68-F8A8-BC04-D9C0-E28AA8BB4288}"/>
              </a:ext>
            </a:extLst>
          </p:cNvPr>
          <p:cNvSpPr/>
          <p:nvPr/>
        </p:nvSpPr>
        <p:spPr>
          <a:xfrm>
            <a:off x="6358162" y="1764509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E3C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1733" dirty="0">
              <a:solidFill>
                <a:srgbClr val="E3CE90"/>
              </a:solidFill>
              <a:latin typeface="Calibri" panose="020F0502020204030204"/>
            </a:endParaRPr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CBBBC99F-CBA5-99A8-DCC4-5B63A42CB6E3}"/>
              </a:ext>
            </a:extLst>
          </p:cNvPr>
          <p:cNvSpPr/>
          <p:nvPr/>
        </p:nvSpPr>
        <p:spPr>
          <a:xfrm>
            <a:off x="6550008" y="222153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E3C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Dashboard</a:t>
            </a:r>
            <a:endParaRPr lang="en-US" sz="1600" dirty="0">
              <a:solidFill>
                <a:srgbClr val="E3CE90"/>
              </a:solidFill>
              <a:latin typeface="Calibri" panose="020F0502020204030204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43C82435-FC11-19EE-58C9-08B8C68D6069}"/>
              </a:ext>
            </a:extLst>
          </p:cNvPr>
          <p:cNvSpPr/>
          <p:nvPr/>
        </p:nvSpPr>
        <p:spPr>
          <a:xfrm>
            <a:off x="6550008" y="258729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for owners &amp; AAA — 24/7 visibility into fleet operations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F7D72132-4AC1-87F9-F9DE-03C4928D452A}"/>
              </a:ext>
            </a:extLst>
          </p:cNvPr>
          <p:cNvSpPr/>
          <p:nvPr/>
        </p:nvSpPr>
        <p:spPr>
          <a:xfrm>
            <a:off x="6550008" y="322127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E3C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Claims</a:t>
            </a:r>
            <a:endParaRPr lang="en-US" sz="1600" dirty="0">
              <a:solidFill>
                <a:srgbClr val="E3CE90"/>
              </a:solidFill>
              <a:latin typeface="Calibri" panose="020F0502020204030204"/>
            </a:endParaRPr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6C68BB9D-275C-35F6-FE0F-1BD2DE59966C}"/>
              </a:ext>
            </a:extLst>
          </p:cNvPr>
          <p:cNvSpPr/>
          <p:nvPr/>
        </p:nvSpPr>
        <p:spPr>
          <a:xfrm>
            <a:off x="6550008" y="358703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accelerates adjudication, reducing legal exposure and claim costs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615F095F-188A-6AD0-29EF-209BD7214499}"/>
              </a:ext>
            </a:extLst>
          </p:cNvPr>
          <p:cNvSpPr/>
          <p:nvPr/>
        </p:nvSpPr>
        <p:spPr>
          <a:xfrm>
            <a:off x="6550008" y="422101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E3C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Accountability</a:t>
            </a:r>
            <a:endParaRPr lang="en-US" sz="1600" dirty="0">
              <a:solidFill>
                <a:srgbClr val="E3CE90"/>
              </a:solidFill>
              <a:latin typeface="Calibri" panose="020F0502020204030204"/>
            </a:endParaRPr>
          </a:p>
        </p:txBody>
      </p:sp>
      <p:sp>
        <p:nvSpPr>
          <p:cNvPr id="43" name="Text 30">
            <a:extLst>
              <a:ext uri="{FF2B5EF4-FFF2-40B4-BE49-F238E27FC236}">
                <a16:creationId xmlns:a16="http://schemas.microsoft.com/office/drawing/2014/main" id="{E5B6CD0D-39B7-6024-A66D-E47297A2E706}"/>
              </a:ext>
            </a:extLst>
          </p:cNvPr>
          <p:cNvSpPr/>
          <p:nvPr/>
        </p:nvSpPr>
        <p:spPr>
          <a:xfrm>
            <a:off x="6550008" y="458677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behavior triggers educational modules — eliminating risk at the source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ECACA5DB-44D5-C7EE-F094-5CEC96772126}"/>
              </a:ext>
            </a:extLst>
          </p:cNvPr>
          <p:cNvSpPr/>
          <p:nvPr/>
        </p:nvSpPr>
        <p:spPr>
          <a:xfrm>
            <a:off x="6550008" y="51938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E3C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on Amazon</a:t>
            </a:r>
            <a:endParaRPr lang="en-US" sz="1600" dirty="0">
              <a:solidFill>
                <a:srgbClr val="E3CE90"/>
              </a:solidFill>
              <a:latin typeface="Calibri" panose="020F0502020204030204"/>
            </a:endParaRPr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C6525C6F-F408-759C-DFDD-44FCF6769FC1}"/>
              </a:ext>
            </a:extLst>
          </p:cNvPr>
          <p:cNvSpPr/>
          <p:nvPr/>
        </p:nvSpPr>
        <p:spPr>
          <a:xfrm>
            <a:off x="6550008" y="5544029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proven Blue Sprinter Van contractor insurance framework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Shape 0">
            <a:extLst>
              <a:ext uri="{FF2B5EF4-FFF2-40B4-BE49-F238E27FC236}">
                <a16:creationId xmlns:a16="http://schemas.microsoft.com/office/drawing/2014/main" id="{1F9E235B-6248-5301-D7CB-BEFC60ABA084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1" name="Shape 1">
            <a:extLst>
              <a:ext uri="{FF2B5EF4-FFF2-40B4-BE49-F238E27FC236}">
                <a16:creationId xmlns:a16="http://schemas.microsoft.com/office/drawing/2014/main" id="{B03FA2B7-8A22-8651-9010-3BBBC7EBBF06}"/>
              </a:ext>
            </a:extLst>
          </p:cNvPr>
          <p:cNvSpPr/>
          <p:nvPr/>
        </p:nvSpPr>
        <p:spPr>
          <a:xfrm>
            <a:off x="0" y="0"/>
            <a:ext cx="487680" cy="829056"/>
          </a:xfrm>
          <a:prstGeom prst="rect">
            <a:avLst/>
          </a:prstGeom>
          <a:solidFill>
            <a:srgbClr val="E3CE90"/>
          </a:solidFill>
          <a:ln w="12700">
            <a:solidFill>
              <a:srgbClr val="E3CE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2" name="Text 2">
            <a:extLst>
              <a:ext uri="{FF2B5EF4-FFF2-40B4-BE49-F238E27FC236}">
                <a16:creationId xmlns:a16="http://schemas.microsoft.com/office/drawing/2014/main" id="{843C605A-69FD-BEF7-20FA-45312D4AA554}"/>
              </a:ext>
            </a:extLst>
          </p:cNvPr>
          <p:cNvSpPr/>
          <p:nvPr/>
        </p:nvSpPr>
        <p:spPr>
          <a:xfrm>
            <a:off x="731520" y="48768"/>
            <a:ext cx="109728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933" marR="0" lvl="0" indent="0" algn="l" defTabSz="914400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0" cap="none" spc="-272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harter Roman" panose="02040503050506020203" pitchFamily="18" charset="0"/>
                <a:ea typeface="+mn-ea"/>
                <a:cs typeface="+mn-cs"/>
              </a:rPr>
              <a:t>How it Works</a:t>
            </a:r>
            <a:endParaRPr kumimoji="0" lang="en-US" sz="4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harter Roman" panose="020405030505060202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146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FC173B4F-D6DD-9F3C-446F-03A0F519F572}"/>
              </a:ext>
            </a:extLst>
          </p:cNvPr>
          <p:cNvSpPr txBox="1"/>
          <p:nvPr/>
        </p:nvSpPr>
        <p:spPr>
          <a:xfrm>
            <a:off x="5555378" y="1886649"/>
            <a:ext cx="28255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u="none" strike="noStrike" dirty="0">
                <a:solidFill>
                  <a:srgbClr val="012041"/>
                </a:solidFill>
                <a:effectLst/>
                <a:latin typeface="Yu Gothic UI" panose="020B0500000000000000" pitchFamily="34" charset="-128"/>
                <a:ea typeface="Yu Gothic UI" panose="020B0500000000000000" pitchFamily="34" charset="-128"/>
              </a:rPr>
              <a:t>Exclusive </a:t>
            </a:r>
          </a:p>
          <a:p>
            <a:pPr lvl="0" algn="ctr">
              <a:defRPr/>
            </a:pPr>
            <a:r>
              <a:rPr lang="en-US" sz="2000" b="1" u="none" strike="noStrike" dirty="0">
                <a:solidFill>
                  <a:srgbClr val="012041"/>
                </a:solidFill>
                <a:effectLst/>
                <a:latin typeface="Yu Gothic UI" panose="020B0500000000000000" pitchFamily="34" charset="-128"/>
                <a:ea typeface="Yu Gothic UI" panose="020B0500000000000000" pitchFamily="34" charset="-128"/>
              </a:rPr>
              <a:t>AAA Rates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C49A3B-6010-D7FF-9271-A24393CDBA42}"/>
              </a:ext>
            </a:extLst>
          </p:cNvPr>
          <p:cNvSpPr txBox="1"/>
          <p:nvPr/>
        </p:nvSpPr>
        <p:spPr>
          <a:xfrm>
            <a:off x="5487126" y="4202217"/>
            <a:ext cx="2962013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u="none" strike="noStrike" dirty="0">
                <a:solidFill>
                  <a:srgbClr val="012041"/>
                </a:solidFill>
                <a:effectLst/>
                <a:latin typeface="Yu Gothic UI" panose="020B0500000000000000" pitchFamily="34" charset="-128"/>
                <a:ea typeface="Yu Gothic UI" panose="020B0500000000000000" pitchFamily="34" charset="-128"/>
              </a:rPr>
              <a:t>Fleet Flexibility</a:t>
            </a:r>
          </a:p>
          <a:p>
            <a:pPr lvl="0" algn="ctr">
              <a:defRPr/>
            </a:pPr>
            <a:endParaRPr lang="en-US" sz="900" dirty="0">
              <a:solidFill>
                <a:srgbClr val="01204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D4BA94-73F9-C413-A58A-F0B8A2D6F68A}"/>
              </a:ext>
            </a:extLst>
          </p:cNvPr>
          <p:cNvSpPr txBox="1"/>
          <p:nvPr/>
        </p:nvSpPr>
        <p:spPr>
          <a:xfrm>
            <a:off x="8782500" y="4720346"/>
            <a:ext cx="290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u="none" strike="noStrike" dirty="0">
                <a:solidFill>
                  <a:srgbClr val="012041"/>
                </a:solidFill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Streamlined quoting, analytics, compliance and certificates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6EA469-10D9-D780-95F2-88EE0E935E60}"/>
              </a:ext>
            </a:extLst>
          </p:cNvPr>
          <p:cNvSpPr txBox="1"/>
          <p:nvPr/>
        </p:nvSpPr>
        <p:spPr>
          <a:xfrm>
            <a:off x="9185908" y="1886649"/>
            <a:ext cx="210118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u="none" strike="noStrike" dirty="0">
                <a:solidFill>
                  <a:srgbClr val="012041"/>
                </a:solidFill>
                <a:effectLst/>
                <a:latin typeface="Yu Gothic UI" panose="020B0500000000000000" pitchFamily="34" charset="-128"/>
                <a:ea typeface="Yu Gothic UI" panose="020B0500000000000000" pitchFamily="34" charset="-128"/>
              </a:rPr>
              <a:t>Specialized Claims Handling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0DBF96-A5E2-FCC8-0431-E286C47E88A5}"/>
              </a:ext>
            </a:extLst>
          </p:cNvPr>
          <p:cNvCxnSpPr>
            <a:cxnSpLocks/>
          </p:cNvCxnSpPr>
          <p:nvPr/>
        </p:nvCxnSpPr>
        <p:spPr>
          <a:xfrm>
            <a:off x="5520260" y="3945779"/>
            <a:ext cx="61109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F0D957A-18A8-3B37-7E28-7EB6D51E8C98}"/>
              </a:ext>
            </a:extLst>
          </p:cNvPr>
          <p:cNvCxnSpPr>
            <a:cxnSpLocks/>
          </p:cNvCxnSpPr>
          <p:nvPr/>
        </p:nvCxnSpPr>
        <p:spPr>
          <a:xfrm>
            <a:off x="8615819" y="1611849"/>
            <a:ext cx="0" cy="4434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499DE5C-4336-9990-DA13-897312301276}"/>
              </a:ext>
            </a:extLst>
          </p:cNvPr>
          <p:cNvSpPr txBox="1"/>
          <p:nvPr/>
        </p:nvSpPr>
        <p:spPr>
          <a:xfrm>
            <a:off x="8822042" y="2680695"/>
            <a:ext cx="28289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u="none" strike="noStrike" dirty="0">
                <a:solidFill>
                  <a:srgbClr val="012041"/>
                </a:solidFill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Tow-specific expertise enhanced by telematics and camera data.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409920-C837-93F7-B24F-8108C220A674}"/>
              </a:ext>
            </a:extLst>
          </p:cNvPr>
          <p:cNvSpPr txBox="1"/>
          <p:nvPr/>
        </p:nvSpPr>
        <p:spPr>
          <a:xfrm>
            <a:off x="5319783" y="2647750"/>
            <a:ext cx="32966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1600" dirty="0">
                <a:solidFill>
                  <a:srgbClr val="01204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Competitively priced insurance coverage that reflects fleet safety and complies with AAA</a:t>
            </a:r>
          </a:p>
          <a:p>
            <a:pPr lvl="0" algn="ctr">
              <a:defRPr/>
            </a:pPr>
            <a:r>
              <a:rPr lang="en-US" sz="1600" dirty="0">
                <a:solidFill>
                  <a:srgbClr val="01204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requirements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8B7CE5-EE6C-3378-623E-51FABB74F966}"/>
              </a:ext>
            </a:extLst>
          </p:cNvPr>
          <p:cNvSpPr txBox="1"/>
          <p:nvPr/>
        </p:nvSpPr>
        <p:spPr>
          <a:xfrm>
            <a:off x="5761127" y="4720346"/>
            <a:ext cx="26880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1600" u="none" strike="noStrike" dirty="0">
                <a:solidFill>
                  <a:srgbClr val="012041"/>
                </a:solidFill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Options for 1-100+ trucks with scalable limits and add-ons.</a:t>
            </a:r>
          </a:p>
        </p:txBody>
      </p:sp>
      <p:pic>
        <p:nvPicPr>
          <p:cNvPr id="4104" name="Picture 8" descr="What Is Fleet Insurance and How Does It Work?">
            <a:extLst>
              <a:ext uri="{FF2B5EF4-FFF2-40B4-BE49-F238E27FC236}">
                <a16:creationId xmlns:a16="http://schemas.microsoft.com/office/drawing/2014/main" id="{CB985852-5ECF-D25A-4B77-7318CA12B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25" y="1764250"/>
            <a:ext cx="3296696" cy="193923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object 7">
            <a:extLst>
              <a:ext uri="{FF2B5EF4-FFF2-40B4-BE49-F238E27FC236}">
                <a16:creationId xmlns:a16="http://schemas.microsoft.com/office/drawing/2014/main" id="{15A03EC3-2664-670E-E440-5303AD69486A}"/>
              </a:ext>
            </a:extLst>
          </p:cNvPr>
          <p:cNvSpPr/>
          <p:nvPr/>
        </p:nvSpPr>
        <p:spPr>
          <a:xfrm>
            <a:off x="6095999" y="1002431"/>
            <a:ext cx="4982817" cy="628535"/>
          </a:xfrm>
          <a:custGeom>
            <a:avLst/>
            <a:gdLst/>
            <a:ahLst/>
            <a:cxnLst/>
            <a:rect l="l" t="t" r="r" b="b"/>
            <a:pathLst>
              <a:path w="2806065" h="360680">
                <a:moveTo>
                  <a:pt x="2625808" y="0"/>
                </a:moveTo>
                <a:lnTo>
                  <a:pt x="180150" y="0"/>
                </a:lnTo>
                <a:lnTo>
                  <a:pt x="132259" y="6435"/>
                </a:lnTo>
                <a:lnTo>
                  <a:pt x="89225" y="24595"/>
                </a:lnTo>
                <a:lnTo>
                  <a:pt x="52765" y="52765"/>
                </a:lnTo>
                <a:lnTo>
                  <a:pt x="24595" y="89225"/>
                </a:lnTo>
                <a:lnTo>
                  <a:pt x="6435" y="132259"/>
                </a:lnTo>
                <a:lnTo>
                  <a:pt x="0" y="180148"/>
                </a:lnTo>
                <a:lnTo>
                  <a:pt x="6435" y="228039"/>
                </a:lnTo>
                <a:lnTo>
                  <a:pt x="24595" y="271073"/>
                </a:lnTo>
                <a:lnTo>
                  <a:pt x="52765" y="307533"/>
                </a:lnTo>
                <a:lnTo>
                  <a:pt x="89225" y="335703"/>
                </a:lnTo>
                <a:lnTo>
                  <a:pt x="132259" y="353863"/>
                </a:lnTo>
                <a:lnTo>
                  <a:pt x="180150" y="360299"/>
                </a:lnTo>
                <a:lnTo>
                  <a:pt x="2625806" y="360302"/>
                </a:lnTo>
                <a:lnTo>
                  <a:pt x="2673697" y="353867"/>
                </a:lnTo>
                <a:lnTo>
                  <a:pt x="2716731" y="335706"/>
                </a:lnTo>
                <a:lnTo>
                  <a:pt x="2753191" y="307537"/>
                </a:lnTo>
                <a:lnTo>
                  <a:pt x="2781360" y="271077"/>
                </a:lnTo>
                <a:lnTo>
                  <a:pt x="2799520" y="228042"/>
                </a:lnTo>
                <a:lnTo>
                  <a:pt x="2805959" y="180150"/>
                </a:lnTo>
                <a:lnTo>
                  <a:pt x="2799524" y="132259"/>
                </a:lnTo>
                <a:lnTo>
                  <a:pt x="2781363" y="89225"/>
                </a:lnTo>
                <a:lnTo>
                  <a:pt x="2753194" y="52765"/>
                </a:lnTo>
                <a:lnTo>
                  <a:pt x="2716734" y="24595"/>
                </a:lnTo>
                <a:lnTo>
                  <a:pt x="2673699" y="6435"/>
                </a:lnTo>
                <a:lnTo>
                  <a:pt x="2625808" y="0"/>
                </a:lnTo>
                <a:close/>
              </a:path>
            </a:pathLst>
          </a:custGeom>
          <a:solidFill>
            <a:srgbClr val="E4CE8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8">
            <a:extLst>
              <a:ext uri="{FF2B5EF4-FFF2-40B4-BE49-F238E27FC236}">
                <a16:creationId xmlns:a16="http://schemas.microsoft.com/office/drawing/2014/main" id="{4407FA0C-B541-4055-7D7E-BE652522351D}"/>
              </a:ext>
            </a:extLst>
          </p:cNvPr>
          <p:cNvSpPr txBox="1"/>
          <p:nvPr/>
        </p:nvSpPr>
        <p:spPr>
          <a:xfrm>
            <a:off x="6902978" y="1147353"/>
            <a:ext cx="3632242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spc="-33" dirty="0">
                <a:solidFill>
                  <a:srgbClr val="012141"/>
                </a:solidFill>
                <a:latin typeface="Yu Gothic UI Semibold" panose="020B0500000000000000" pitchFamily="34" charset="-128"/>
                <a:ea typeface="Yu Gothic UI Semibold" panose="020B0500000000000000" pitchFamily="34" charset="-128"/>
                <a:cs typeface="Verdana"/>
              </a:rPr>
              <a:t>Targeting</a:t>
            </a:r>
            <a:r>
              <a:rPr sz="2000" b="1" spc="-127" dirty="0">
                <a:solidFill>
                  <a:srgbClr val="012141"/>
                </a:solidFill>
                <a:latin typeface="Yu Gothic UI Semibold" panose="020B0500000000000000" pitchFamily="34" charset="-128"/>
                <a:ea typeface="Yu Gothic UI Semibold" panose="020B0500000000000000" pitchFamily="34" charset="-128"/>
                <a:cs typeface="Verdana"/>
              </a:rPr>
              <a:t> </a:t>
            </a:r>
            <a:r>
              <a:rPr sz="2000" b="1" spc="-27" dirty="0">
                <a:solidFill>
                  <a:srgbClr val="012141"/>
                </a:solidFill>
                <a:latin typeface="Yu Gothic UI Semibold" panose="020B0500000000000000" pitchFamily="34" charset="-128"/>
                <a:ea typeface="Yu Gothic UI Semibold" panose="020B0500000000000000" pitchFamily="34" charset="-128"/>
                <a:cs typeface="Verdana"/>
              </a:rPr>
              <a:t>launch</a:t>
            </a:r>
            <a:r>
              <a:rPr lang="en-US" sz="2000" b="1" spc="-120" dirty="0">
                <a:solidFill>
                  <a:srgbClr val="012141"/>
                </a:solidFill>
                <a:latin typeface="Yu Gothic UI Semibold" panose="020B0500000000000000" pitchFamily="34" charset="-128"/>
                <a:ea typeface="Yu Gothic UI Semibold" panose="020B0500000000000000" pitchFamily="34" charset="-128"/>
                <a:cs typeface="Verdana"/>
              </a:rPr>
              <a:t> </a:t>
            </a:r>
            <a:r>
              <a:rPr lang="en-US" sz="2000" b="1" spc="-40" dirty="0">
                <a:solidFill>
                  <a:srgbClr val="012141"/>
                </a:solidFill>
                <a:latin typeface="Yu Gothic UI Semibold" panose="020B0500000000000000" pitchFamily="34" charset="-128"/>
                <a:ea typeface="Yu Gothic UI Semibold" panose="020B0500000000000000" pitchFamily="34" charset="-128"/>
                <a:cs typeface="Verdana"/>
              </a:rPr>
              <a:t>in</a:t>
            </a:r>
            <a:r>
              <a:rPr lang="en-US" sz="2000" b="1" spc="-113" dirty="0">
                <a:solidFill>
                  <a:srgbClr val="012141"/>
                </a:solidFill>
                <a:latin typeface="Yu Gothic UI Semibold" panose="020B0500000000000000" pitchFamily="34" charset="-128"/>
                <a:ea typeface="Yu Gothic UI Semibold" panose="020B0500000000000000" pitchFamily="34" charset="-128"/>
                <a:cs typeface="Verdana"/>
              </a:rPr>
              <a:t> </a:t>
            </a:r>
            <a:r>
              <a:rPr lang="en-US" sz="2000" b="1" spc="-13" dirty="0">
                <a:solidFill>
                  <a:srgbClr val="012141"/>
                </a:solidFill>
                <a:latin typeface="Yu Gothic UI Semibold" panose="020B0500000000000000" pitchFamily="34" charset="-128"/>
                <a:ea typeface="Yu Gothic UI Semibold" panose="020B0500000000000000" pitchFamily="34" charset="-128"/>
                <a:cs typeface="Verdana"/>
              </a:rPr>
              <a:t>Q2</a:t>
            </a:r>
            <a:r>
              <a:rPr sz="2000" b="1" spc="-127" dirty="0">
                <a:solidFill>
                  <a:srgbClr val="012141"/>
                </a:solidFill>
                <a:latin typeface="Yu Gothic UI Semibold" panose="020B0500000000000000" pitchFamily="34" charset="-128"/>
                <a:ea typeface="Yu Gothic UI Semibold" panose="020B0500000000000000" pitchFamily="34" charset="-128"/>
                <a:cs typeface="Verdana"/>
              </a:rPr>
              <a:t> </a:t>
            </a:r>
            <a:r>
              <a:rPr sz="2000" b="1" dirty="0">
                <a:solidFill>
                  <a:srgbClr val="012141"/>
                </a:solidFill>
                <a:latin typeface="Yu Gothic UI Semibold" panose="020B0500000000000000" pitchFamily="34" charset="-128"/>
                <a:ea typeface="Yu Gothic UI Semibold" panose="020B0500000000000000" pitchFamily="34" charset="-128"/>
                <a:cs typeface="Verdana"/>
              </a:rPr>
              <a:t>of</a:t>
            </a:r>
            <a:r>
              <a:rPr sz="2000" b="1" spc="-133" dirty="0">
                <a:solidFill>
                  <a:srgbClr val="012141"/>
                </a:solidFill>
                <a:latin typeface="Yu Gothic UI Semibold" panose="020B0500000000000000" pitchFamily="34" charset="-128"/>
                <a:ea typeface="Yu Gothic UI Semibold" panose="020B0500000000000000" pitchFamily="34" charset="-128"/>
                <a:cs typeface="Verdana"/>
              </a:rPr>
              <a:t> </a:t>
            </a:r>
            <a:r>
              <a:rPr sz="2000" b="1" spc="-27" dirty="0">
                <a:solidFill>
                  <a:srgbClr val="012141"/>
                </a:solidFill>
                <a:latin typeface="Yu Gothic UI Semibold" panose="020B0500000000000000" pitchFamily="34" charset="-128"/>
                <a:ea typeface="Yu Gothic UI Semibold" panose="020B0500000000000000" pitchFamily="34" charset="-128"/>
                <a:cs typeface="Verdana"/>
              </a:rPr>
              <a:t>202</a:t>
            </a:r>
            <a:r>
              <a:rPr lang="en-US" sz="2000" b="1" spc="-27" dirty="0">
                <a:solidFill>
                  <a:srgbClr val="012141"/>
                </a:solidFill>
                <a:latin typeface="Yu Gothic UI Semibold" panose="020B0500000000000000" pitchFamily="34" charset="-128"/>
                <a:ea typeface="Yu Gothic UI Semibold" panose="020B0500000000000000" pitchFamily="34" charset="-128"/>
                <a:cs typeface="Verdana"/>
              </a:rPr>
              <a:t>6</a:t>
            </a:r>
            <a:endParaRPr sz="2000" b="1" dirty="0">
              <a:latin typeface="Yu Gothic UI Semibold" panose="020B0500000000000000" pitchFamily="34" charset="-128"/>
              <a:ea typeface="Yu Gothic UI Semibold" panose="020B0500000000000000" pitchFamily="34" charset="-128"/>
              <a:cs typeface="Verdana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18E3D20-03BB-1BEF-3FEB-6C809BCED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7556"/>
            <a:ext cx="12192000" cy="176112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9620A6EB-3683-F39C-D94C-5595B3E5A44D}"/>
              </a:ext>
            </a:extLst>
          </p:cNvPr>
          <p:cNvGrpSpPr/>
          <p:nvPr/>
        </p:nvGrpSpPr>
        <p:grpSpPr>
          <a:xfrm>
            <a:off x="196877" y="6459504"/>
            <a:ext cx="803564" cy="179113"/>
            <a:chOff x="235527" y="6522044"/>
            <a:chExt cx="803564" cy="179113"/>
          </a:xfrm>
        </p:grpSpPr>
        <p:sp>
          <p:nvSpPr>
            <p:cNvPr id="51" name="object 6">
              <a:extLst>
                <a:ext uri="{FF2B5EF4-FFF2-40B4-BE49-F238E27FC236}">
                  <a16:creationId xmlns:a16="http://schemas.microsoft.com/office/drawing/2014/main" id="{795ACD7C-6B97-A301-B74E-BC39F2B22232}"/>
                </a:ext>
              </a:extLst>
            </p:cNvPr>
            <p:cNvSpPr/>
            <p:nvPr/>
          </p:nvSpPr>
          <p:spPr>
            <a:xfrm>
              <a:off x="235527" y="6531429"/>
              <a:ext cx="803564" cy="169728"/>
            </a:xfrm>
            <a:custGeom>
              <a:avLst/>
              <a:gdLst/>
              <a:ahLst/>
              <a:cxnLst/>
              <a:rect l="l" t="t" r="r" b="b"/>
              <a:pathLst>
                <a:path w="768350" h="190500">
                  <a:moveTo>
                    <a:pt x="0" y="95250"/>
                  </a:moveTo>
                  <a:lnTo>
                    <a:pt x="7485" y="58174"/>
                  </a:lnTo>
                  <a:lnTo>
                    <a:pt x="27898" y="27898"/>
                  </a:lnTo>
                  <a:lnTo>
                    <a:pt x="58174" y="7485"/>
                  </a:lnTo>
                  <a:lnTo>
                    <a:pt x="95249" y="0"/>
                  </a:lnTo>
                  <a:lnTo>
                    <a:pt x="672750" y="0"/>
                  </a:lnTo>
                  <a:lnTo>
                    <a:pt x="709825" y="7485"/>
                  </a:lnTo>
                  <a:lnTo>
                    <a:pt x="740101" y="27898"/>
                  </a:lnTo>
                  <a:lnTo>
                    <a:pt x="760514" y="58174"/>
                  </a:lnTo>
                  <a:lnTo>
                    <a:pt x="768000" y="95250"/>
                  </a:lnTo>
                  <a:lnTo>
                    <a:pt x="760514" y="132325"/>
                  </a:lnTo>
                  <a:lnTo>
                    <a:pt x="740101" y="162601"/>
                  </a:lnTo>
                  <a:lnTo>
                    <a:pt x="709825" y="183014"/>
                  </a:lnTo>
                  <a:lnTo>
                    <a:pt x="672750" y="190500"/>
                  </a:lnTo>
                  <a:lnTo>
                    <a:pt x="95249" y="190500"/>
                  </a:lnTo>
                  <a:lnTo>
                    <a:pt x="58174" y="183014"/>
                  </a:lnTo>
                  <a:lnTo>
                    <a:pt x="27898" y="162601"/>
                  </a:lnTo>
                  <a:lnTo>
                    <a:pt x="7485" y="132325"/>
                  </a:lnTo>
                  <a:lnTo>
                    <a:pt x="0" y="95250"/>
                  </a:lnTo>
                  <a:close/>
                </a:path>
              </a:pathLst>
            </a:custGeom>
            <a:ln w="9525">
              <a:solidFill>
                <a:srgbClr val="E0C782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bject 7">
              <a:extLst>
                <a:ext uri="{FF2B5EF4-FFF2-40B4-BE49-F238E27FC236}">
                  <a16:creationId xmlns:a16="http://schemas.microsoft.com/office/drawing/2014/main" id="{B6C8BE9B-45DD-AE30-05DA-1AE66C3A7ED9}"/>
                </a:ext>
              </a:extLst>
            </p:cNvPr>
            <p:cNvSpPr txBox="1"/>
            <p:nvPr/>
          </p:nvSpPr>
          <p:spPr>
            <a:xfrm>
              <a:off x="315574" y="6522044"/>
              <a:ext cx="644479" cy="107359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16933" defTabSz="1219170">
                <a:spcBef>
                  <a:spcPts val="133"/>
                </a:spcBef>
              </a:pPr>
              <a:r>
                <a:rPr sz="933" kern="0" spc="-13" dirty="0">
                  <a:solidFill>
                    <a:srgbClr val="E0C782"/>
                  </a:solidFill>
                  <a:latin typeface="Arial"/>
                  <a:cs typeface="Arial"/>
                </a:rPr>
                <a:t>Confidential</a:t>
              </a:r>
              <a:endParaRPr sz="933" kern="0" dirty="0">
                <a:solidFill>
                  <a:sysClr val="windowText" lastClr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73809BE-54CB-320F-F328-FCB1FEBE5527}"/>
              </a:ext>
            </a:extLst>
          </p:cNvPr>
          <p:cNvSpPr txBox="1"/>
          <p:nvPr/>
        </p:nvSpPr>
        <p:spPr>
          <a:xfrm>
            <a:off x="8904571" y="4202217"/>
            <a:ext cx="2663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12041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I</a:t>
            </a:r>
            <a:r>
              <a:rPr lang="en-US" sz="2000" b="1" u="none" strike="noStrike" dirty="0">
                <a:solidFill>
                  <a:srgbClr val="012041"/>
                </a:solidFill>
                <a:effectLst/>
                <a:latin typeface="Yu Gothic UI" panose="020B0500000000000000" pitchFamily="34" charset="-128"/>
                <a:ea typeface="Yu Gothic UI" panose="020B0500000000000000" pitchFamily="34" charset="-128"/>
              </a:rPr>
              <a:t>ntegrated Platform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74B083-FAB7-5BA9-DD5E-EC7343DFDC34}"/>
              </a:ext>
            </a:extLst>
          </p:cNvPr>
          <p:cNvSpPr txBox="1"/>
          <p:nvPr/>
        </p:nvSpPr>
        <p:spPr>
          <a:xfrm>
            <a:off x="11723047" y="6357694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1C782"/>
                </a:solidFill>
              </a:rPr>
              <a:t>3</a:t>
            </a:r>
          </a:p>
        </p:txBody>
      </p:sp>
      <p:pic>
        <p:nvPicPr>
          <p:cNvPr id="4106" name="Picture 10" descr="Drivers warned to avoid certain tow trucks after $217k in fees &amp; cars 'held  hostage' - four phrases to watch for | The US Sun">
            <a:extLst>
              <a:ext uri="{FF2B5EF4-FFF2-40B4-BE49-F238E27FC236}">
                <a16:creationId xmlns:a16="http://schemas.microsoft.com/office/drawing/2014/main" id="{215E80E4-2ED7-49CC-AE53-7664578E1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25" y="4056517"/>
            <a:ext cx="3296696" cy="220385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" name="Picture 4095">
            <a:extLst>
              <a:ext uri="{FF2B5EF4-FFF2-40B4-BE49-F238E27FC236}">
                <a16:creationId xmlns:a16="http://schemas.microsoft.com/office/drawing/2014/main" id="{3C28CC92-F4F0-DD6A-A9E5-454C6D92AAD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1217425" y="4056517"/>
            <a:ext cx="3296696" cy="2188714"/>
          </a:xfrm>
          <a:prstGeom prst="round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FD4005AA-9702-5234-D6AF-C7871038C840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07ECCE2-5AFD-A724-6AA8-5E0374582370}"/>
              </a:ext>
            </a:extLst>
          </p:cNvPr>
          <p:cNvSpPr/>
          <p:nvPr/>
        </p:nvSpPr>
        <p:spPr>
          <a:xfrm>
            <a:off x="0" y="0"/>
            <a:ext cx="487680" cy="829056"/>
          </a:xfrm>
          <a:prstGeom prst="rect">
            <a:avLst/>
          </a:prstGeom>
          <a:solidFill>
            <a:srgbClr val="E3CE90"/>
          </a:solidFill>
          <a:ln w="12700">
            <a:solidFill>
              <a:srgbClr val="E3CE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195419-229C-4CE8-CBF7-A4FFC2508ABD}"/>
              </a:ext>
            </a:extLst>
          </p:cNvPr>
          <p:cNvSpPr/>
          <p:nvPr/>
        </p:nvSpPr>
        <p:spPr>
          <a:xfrm>
            <a:off x="731520" y="48768"/>
            <a:ext cx="109728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933" marR="0" lvl="0" indent="0" algn="l" defTabSz="914400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0" cap="none" spc="-272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harter Roman" panose="02040503050506020203" pitchFamily="18" charset="0"/>
                <a:ea typeface="+mn-ea"/>
                <a:cs typeface="+mn-cs"/>
              </a:rPr>
              <a:t>Program Highlights</a:t>
            </a:r>
            <a:endParaRPr kumimoji="0" lang="en-US" sz="4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harter Roman" panose="020405030505060202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600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149CB-08CC-D8D4-6CA0-2AA321A9A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bject 2">
            <a:extLst>
              <a:ext uri="{FF2B5EF4-FFF2-40B4-BE49-F238E27FC236}">
                <a16:creationId xmlns:a16="http://schemas.microsoft.com/office/drawing/2014/main" id="{CB01A139-9A43-20EC-9F65-8A62CC8A0126}"/>
              </a:ext>
            </a:extLst>
          </p:cNvPr>
          <p:cNvSpPr/>
          <p:nvPr/>
        </p:nvSpPr>
        <p:spPr>
          <a:xfrm>
            <a:off x="0" y="15668"/>
            <a:ext cx="12582007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499"/>
                </a:lnTo>
                <a:lnTo>
                  <a:pt x="9144000" y="5143499"/>
                </a:lnTo>
                <a:lnTo>
                  <a:pt x="9144000" y="0"/>
                </a:lnTo>
                <a:close/>
              </a:path>
            </a:pathLst>
          </a:custGeom>
          <a:solidFill>
            <a:srgbClr val="012141"/>
          </a:solidFill>
        </p:spPr>
        <p:txBody>
          <a:bodyPr wrap="square" lIns="0" tIns="0" rIns="0" bIns="0" rtlCol="0"/>
          <a:lstStyle/>
          <a:p>
            <a:pPr defTabSz="1219170"/>
            <a:endParaRPr sz="2400" kern="0" dirty="0">
              <a:solidFill>
                <a:sysClr val="windowText" lastClr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069E26-D0AD-F2B5-1EE9-CDEC4749D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7556"/>
            <a:ext cx="12192000" cy="17611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3756942-20AD-4EF2-160F-1A9FA012F823}"/>
              </a:ext>
            </a:extLst>
          </p:cNvPr>
          <p:cNvGrpSpPr/>
          <p:nvPr/>
        </p:nvGrpSpPr>
        <p:grpSpPr>
          <a:xfrm>
            <a:off x="196877" y="6459504"/>
            <a:ext cx="803564" cy="179113"/>
            <a:chOff x="235527" y="6522044"/>
            <a:chExt cx="803564" cy="179113"/>
          </a:xfrm>
        </p:grpSpPr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02E487B6-BDB9-D045-D22F-8AE28E9D03CD}"/>
                </a:ext>
              </a:extLst>
            </p:cNvPr>
            <p:cNvSpPr/>
            <p:nvPr/>
          </p:nvSpPr>
          <p:spPr>
            <a:xfrm>
              <a:off x="235527" y="6531429"/>
              <a:ext cx="803564" cy="169728"/>
            </a:xfrm>
            <a:custGeom>
              <a:avLst/>
              <a:gdLst/>
              <a:ahLst/>
              <a:cxnLst/>
              <a:rect l="l" t="t" r="r" b="b"/>
              <a:pathLst>
                <a:path w="768350" h="190500">
                  <a:moveTo>
                    <a:pt x="0" y="95250"/>
                  </a:moveTo>
                  <a:lnTo>
                    <a:pt x="7485" y="58174"/>
                  </a:lnTo>
                  <a:lnTo>
                    <a:pt x="27898" y="27898"/>
                  </a:lnTo>
                  <a:lnTo>
                    <a:pt x="58174" y="7485"/>
                  </a:lnTo>
                  <a:lnTo>
                    <a:pt x="95249" y="0"/>
                  </a:lnTo>
                  <a:lnTo>
                    <a:pt x="672750" y="0"/>
                  </a:lnTo>
                  <a:lnTo>
                    <a:pt x="709825" y="7485"/>
                  </a:lnTo>
                  <a:lnTo>
                    <a:pt x="740101" y="27898"/>
                  </a:lnTo>
                  <a:lnTo>
                    <a:pt x="760514" y="58174"/>
                  </a:lnTo>
                  <a:lnTo>
                    <a:pt x="768000" y="95250"/>
                  </a:lnTo>
                  <a:lnTo>
                    <a:pt x="760514" y="132325"/>
                  </a:lnTo>
                  <a:lnTo>
                    <a:pt x="740101" y="162601"/>
                  </a:lnTo>
                  <a:lnTo>
                    <a:pt x="709825" y="183014"/>
                  </a:lnTo>
                  <a:lnTo>
                    <a:pt x="672750" y="190500"/>
                  </a:lnTo>
                  <a:lnTo>
                    <a:pt x="95249" y="190500"/>
                  </a:lnTo>
                  <a:lnTo>
                    <a:pt x="58174" y="183014"/>
                  </a:lnTo>
                  <a:lnTo>
                    <a:pt x="27898" y="162601"/>
                  </a:lnTo>
                  <a:lnTo>
                    <a:pt x="7485" y="132325"/>
                  </a:lnTo>
                  <a:lnTo>
                    <a:pt x="0" y="95250"/>
                  </a:lnTo>
                  <a:close/>
                </a:path>
              </a:pathLst>
            </a:custGeom>
            <a:ln w="9525">
              <a:solidFill>
                <a:srgbClr val="E0C782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object 7">
              <a:extLst>
                <a:ext uri="{FF2B5EF4-FFF2-40B4-BE49-F238E27FC236}">
                  <a16:creationId xmlns:a16="http://schemas.microsoft.com/office/drawing/2014/main" id="{7AFA26A2-CEEF-E034-719B-2C77906EDB82}"/>
                </a:ext>
              </a:extLst>
            </p:cNvPr>
            <p:cNvSpPr txBox="1"/>
            <p:nvPr/>
          </p:nvSpPr>
          <p:spPr>
            <a:xfrm>
              <a:off x="315574" y="6522044"/>
              <a:ext cx="644479" cy="107359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16933" defTabSz="1219170">
                <a:spcBef>
                  <a:spcPts val="133"/>
                </a:spcBef>
              </a:pPr>
              <a:r>
                <a:rPr sz="933" kern="0" spc="-13" dirty="0">
                  <a:solidFill>
                    <a:srgbClr val="E0C782"/>
                  </a:solidFill>
                  <a:latin typeface="Arial"/>
                  <a:cs typeface="Arial"/>
                </a:rPr>
                <a:t>Confidential</a:t>
              </a:r>
              <a:endParaRPr sz="933" kern="0" dirty="0">
                <a:solidFill>
                  <a:sysClr val="windowText" lastClr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60" name="Shape 0">
            <a:extLst>
              <a:ext uri="{FF2B5EF4-FFF2-40B4-BE49-F238E27FC236}">
                <a16:creationId xmlns:a16="http://schemas.microsoft.com/office/drawing/2014/main" id="{3AB6038E-3109-FDEF-4233-3C1BFE3D5E8E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1" name="Shape 1">
            <a:extLst>
              <a:ext uri="{FF2B5EF4-FFF2-40B4-BE49-F238E27FC236}">
                <a16:creationId xmlns:a16="http://schemas.microsoft.com/office/drawing/2014/main" id="{A3875952-ABEC-DF8D-B778-ACC22BFCE74B}"/>
              </a:ext>
            </a:extLst>
          </p:cNvPr>
          <p:cNvSpPr/>
          <p:nvPr/>
        </p:nvSpPr>
        <p:spPr>
          <a:xfrm>
            <a:off x="0" y="0"/>
            <a:ext cx="487680" cy="829056"/>
          </a:xfrm>
          <a:prstGeom prst="rect">
            <a:avLst/>
          </a:prstGeom>
          <a:solidFill>
            <a:srgbClr val="E3CE90"/>
          </a:solidFill>
          <a:ln w="12700">
            <a:solidFill>
              <a:srgbClr val="E3CE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2" name="Text 2">
            <a:extLst>
              <a:ext uri="{FF2B5EF4-FFF2-40B4-BE49-F238E27FC236}">
                <a16:creationId xmlns:a16="http://schemas.microsoft.com/office/drawing/2014/main" id="{58087CAE-478C-69E0-9FE4-7B99D4FCDE8C}"/>
              </a:ext>
            </a:extLst>
          </p:cNvPr>
          <p:cNvSpPr/>
          <p:nvPr/>
        </p:nvSpPr>
        <p:spPr>
          <a:xfrm>
            <a:off x="731520" y="48768"/>
            <a:ext cx="109728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933" marR="0" lvl="0" indent="0" algn="l" defTabSz="914400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0" cap="none" spc="-272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harter Roman" panose="02040503050506020203" pitchFamily="18" charset="0"/>
                <a:ea typeface="+mn-ea"/>
                <a:cs typeface="+mn-cs"/>
              </a:rPr>
              <a:t>The Affinity Solution</a:t>
            </a:r>
            <a:endParaRPr kumimoji="0" lang="en-US" sz="4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harter Roman" panose="02040503050506020203" pitchFamily="18" charset="0"/>
              <a:ea typeface="+mn-ea"/>
              <a:cs typeface="+mn-cs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2DAD209-DF6A-31F4-EB61-0EA0AAF29AD1}"/>
              </a:ext>
            </a:extLst>
          </p:cNvPr>
          <p:cNvSpPr/>
          <p:nvPr/>
        </p:nvSpPr>
        <p:spPr>
          <a:xfrm>
            <a:off x="341376" y="1560576"/>
            <a:ext cx="3681984" cy="121920"/>
          </a:xfrm>
          <a:prstGeom prst="rect">
            <a:avLst/>
          </a:prstGeom>
          <a:solidFill>
            <a:srgbClr val="E3CE90"/>
          </a:solidFill>
          <a:ln w="12700">
            <a:solidFill>
              <a:srgbClr val="D4920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B7C1918C-311C-A9D6-81AD-153A7600A518}"/>
              </a:ext>
            </a:extLst>
          </p:cNvPr>
          <p:cNvSpPr/>
          <p:nvPr/>
        </p:nvSpPr>
        <p:spPr>
          <a:xfrm>
            <a:off x="1292352" y="18044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Workers' Comp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47131B7-DF64-B36D-D7E6-7E53C3E8EA0E}"/>
              </a:ext>
            </a:extLst>
          </p:cNvPr>
          <p:cNvSpPr/>
          <p:nvPr/>
        </p:nvSpPr>
        <p:spPr>
          <a:xfrm>
            <a:off x="1292352" y="2145792"/>
            <a:ext cx="2560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b="1" kern="0" spc="133" dirty="0">
                <a:solidFill>
                  <a:srgbClr val="E3C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· AVAILABLE NOW</a:t>
            </a:r>
            <a:endParaRPr lang="en-US" sz="1133" b="1" dirty="0">
              <a:solidFill>
                <a:srgbClr val="E3CE90"/>
              </a:solidFill>
              <a:latin typeface="Calibri" panose="020F0502020204030204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5F1AAFA-894E-7108-AE79-8E6FAD816A38}"/>
              </a:ext>
            </a:extLst>
          </p:cNvPr>
          <p:cNvSpPr/>
          <p:nvPr/>
        </p:nvSpPr>
        <p:spPr>
          <a:xfrm>
            <a:off x="524256" y="2499360"/>
            <a:ext cx="3340608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AmTrust PAYO program. 50-state coverage. Below-market pricing based on actual payroll — no estimates, no surprises.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007F12AE-DAAB-CF86-C719-B262FF66306A}"/>
              </a:ext>
            </a:extLst>
          </p:cNvPr>
          <p:cNvSpPr/>
          <p:nvPr/>
        </p:nvSpPr>
        <p:spPr>
          <a:xfrm>
            <a:off x="4169664" y="1560576"/>
            <a:ext cx="3681984" cy="121920"/>
          </a:xfrm>
          <a:prstGeom prst="rect">
            <a:avLst/>
          </a:prstGeom>
          <a:solidFill>
            <a:srgbClr val="E3CE90"/>
          </a:solidFill>
          <a:ln w="12700">
            <a:solidFill>
              <a:srgbClr val="D4920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A6C685DA-AF95-3E60-6045-17FBFF3E0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804416"/>
            <a:ext cx="609600" cy="609600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FD6088A9-51CC-46F3-1A13-01DFF2079166}"/>
              </a:ext>
            </a:extLst>
          </p:cNvPr>
          <p:cNvSpPr/>
          <p:nvPr/>
        </p:nvSpPr>
        <p:spPr>
          <a:xfrm>
            <a:off x="5120640" y="18044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Auto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99F7B556-7C4D-AE6E-2540-E787ABF85605}"/>
              </a:ext>
            </a:extLst>
          </p:cNvPr>
          <p:cNvSpPr/>
          <p:nvPr/>
        </p:nvSpPr>
        <p:spPr>
          <a:xfrm>
            <a:off x="5120640" y="2145792"/>
            <a:ext cx="2560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b="1" kern="0" spc="133" dirty="0">
                <a:solidFill>
                  <a:srgbClr val="E3C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· TELEMATICS</a:t>
            </a:r>
            <a:endParaRPr lang="en-US" sz="1133" b="1" dirty="0">
              <a:solidFill>
                <a:srgbClr val="E3CE90"/>
              </a:solidFill>
              <a:latin typeface="Calibri" panose="020F0502020204030204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BED01AB6-25A3-68FF-26DB-BD7ACADEB3EF}"/>
              </a:ext>
            </a:extLst>
          </p:cNvPr>
          <p:cNvSpPr/>
          <p:nvPr/>
        </p:nvSpPr>
        <p:spPr>
          <a:xfrm>
            <a:off x="4352544" y="2499360"/>
            <a:ext cx="3340608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pricing for every operator. 24/7 operators vs. day-only contractors rated differently. Monthly billing on actual miles driven.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C2C6D719-AA81-CED6-35C4-1C7BDC5E3FF4}"/>
              </a:ext>
            </a:extLst>
          </p:cNvPr>
          <p:cNvSpPr/>
          <p:nvPr/>
        </p:nvSpPr>
        <p:spPr>
          <a:xfrm>
            <a:off x="7997952" y="1560576"/>
            <a:ext cx="3681984" cy="121920"/>
          </a:xfrm>
          <a:prstGeom prst="rect">
            <a:avLst/>
          </a:prstGeom>
          <a:solidFill>
            <a:srgbClr val="E3CE90"/>
          </a:solidFill>
          <a:ln w="12700">
            <a:solidFill>
              <a:srgbClr val="D4920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4587B0A1-AA1A-B194-7C8F-9DBA7FF23F0B}"/>
              </a:ext>
            </a:extLst>
          </p:cNvPr>
          <p:cNvSpPr/>
          <p:nvPr/>
        </p:nvSpPr>
        <p:spPr>
          <a:xfrm>
            <a:off x="8948928" y="18044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Platform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5F4B8385-5E65-3DE4-1168-D8B0A0F9E22D}"/>
              </a:ext>
            </a:extLst>
          </p:cNvPr>
          <p:cNvSpPr/>
          <p:nvPr/>
        </p:nvSpPr>
        <p:spPr>
          <a:xfrm>
            <a:off x="8948928" y="2145792"/>
            <a:ext cx="2560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b="1" kern="0" spc="133" dirty="0">
                <a:solidFill>
                  <a:srgbClr val="E3C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FLEETLYTICS</a:t>
            </a:r>
            <a:endParaRPr lang="en-US" sz="1133" b="1" dirty="0">
              <a:solidFill>
                <a:srgbClr val="E3CE90"/>
              </a:solidFill>
              <a:latin typeface="Calibri" panose="020F0502020204030204"/>
            </a:endParaRPr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202E883A-1D60-DD70-229C-9245DFD94C6A}"/>
              </a:ext>
            </a:extLst>
          </p:cNvPr>
          <p:cNvSpPr/>
          <p:nvPr/>
        </p:nvSpPr>
        <p:spPr>
          <a:xfrm>
            <a:off x="8180832" y="2499360"/>
            <a:ext cx="3340608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Quoting, compliance, certificates &amp; real-time fleet analytics — all in one dashboard visible to operators and AAA clubs alike.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2" name="Picture 51" descr="A white logo with stars and mountains&#10;&#10;AI-generated content may be incorrect.">
            <a:extLst>
              <a:ext uri="{FF2B5EF4-FFF2-40B4-BE49-F238E27FC236}">
                <a16:creationId xmlns:a16="http://schemas.microsoft.com/office/drawing/2014/main" id="{8CF64BE3-6CEE-3C06-B841-A7A3395E3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493" y="1786128"/>
            <a:ext cx="767079" cy="609600"/>
          </a:xfrm>
          <a:prstGeom prst="rect">
            <a:avLst/>
          </a:prstGeom>
        </p:spPr>
      </p:pic>
      <p:sp>
        <p:nvSpPr>
          <p:cNvPr id="93" name="Shape 25">
            <a:extLst>
              <a:ext uri="{FF2B5EF4-FFF2-40B4-BE49-F238E27FC236}">
                <a16:creationId xmlns:a16="http://schemas.microsoft.com/office/drawing/2014/main" id="{8EC0C316-DF91-0BA8-BB4A-18A2B4D750CD}"/>
              </a:ext>
            </a:extLst>
          </p:cNvPr>
          <p:cNvSpPr/>
          <p:nvPr/>
        </p:nvSpPr>
        <p:spPr>
          <a:xfrm>
            <a:off x="2286000" y="4706112"/>
            <a:ext cx="1853184" cy="950976"/>
          </a:xfrm>
          <a:prstGeom prst="rect">
            <a:avLst/>
          </a:prstGeom>
          <a:solidFill>
            <a:schemeClr val="bg1"/>
          </a:solidFill>
          <a:ln w="12700">
            <a:solidFill>
              <a:srgbClr val="D8DCE8"/>
            </a:solidFill>
            <a:prstDash val="solid"/>
          </a:ln>
          <a:effectLst>
            <a:outerShdw blurRad="1270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4" name="Shape 26">
            <a:extLst>
              <a:ext uri="{FF2B5EF4-FFF2-40B4-BE49-F238E27FC236}">
                <a16:creationId xmlns:a16="http://schemas.microsoft.com/office/drawing/2014/main" id="{D376D893-4169-205E-1551-41B743F1030E}"/>
              </a:ext>
            </a:extLst>
          </p:cNvPr>
          <p:cNvSpPr/>
          <p:nvPr/>
        </p:nvSpPr>
        <p:spPr>
          <a:xfrm>
            <a:off x="2286000" y="4706112"/>
            <a:ext cx="1853184" cy="97536"/>
          </a:xfrm>
          <a:prstGeom prst="rect">
            <a:avLst/>
          </a:prstGeom>
          <a:solidFill>
            <a:srgbClr val="0B1A3F"/>
          </a:solidFill>
          <a:ln w="12700">
            <a:solidFill>
              <a:srgbClr val="0B1A3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5" name="Image 4" descr="preencoded.png">
            <a:extLst>
              <a:ext uri="{FF2B5EF4-FFF2-40B4-BE49-F238E27FC236}">
                <a16:creationId xmlns:a16="http://schemas.microsoft.com/office/drawing/2014/main" id="{71B9963C-DA31-022A-A8B8-BDA91C655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2304" y="4852416"/>
            <a:ext cx="365760" cy="365760"/>
          </a:xfrm>
          <a:prstGeom prst="rect">
            <a:avLst/>
          </a:prstGeom>
        </p:spPr>
      </p:pic>
      <p:sp>
        <p:nvSpPr>
          <p:cNvPr id="96" name="Text 27">
            <a:extLst>
              <a:ext uri="{FF2B5EF4-FFF2-40B4-BE49-F238E27FC236}">
                <a16:creationId xmlns:a16="http://schemas.microsoft.com/office/drawing/2014/main" id="{5170A2C5-4A29-E90E-3F53-9CB50CFBFF20}"/>
              </a:ext>
            </a:extLst>
          </p:cNvPr>
          <p:cNvSpPr/>
          <p:nvPr/>
        </p:nvSpPr>
        <p:spPr>
          <a:xfrm>
            <a:off x="2383536" y="5266944"/>
            <a:ext cx="165811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b="1" dirty="0">
                <a:solidFill>
                  <a:srgbClr val="0B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Products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7" name="Shape 33">
            <a:extLst>
              <a:ext uri="{FF2B5EF4-FFF2-40B4-BE49-F238E27FC236}">
                <a16:creationId xmlns:a16="http://schemas.microsoft.com/office/drawing/2014/main" id="{2E54BAE4-FD2C-9671-6462-CDA69D602A9D}"/>
              </a:ext>
            </a:extLst>
          </p:cNvPr>
          <p:cNvSpPr/>
          <p:nvPr/>
        </p:nvSpPr>
        <p:spPr>
          <a:xfrm>
            <a:off x="4236720" y="4706112"/>
            <a:ext cx="1853184" cy="950976"/>
          </a:xfrm>
          <a:prstGeom prst="rect">
            <a:avLst/>
          </a:prstGeom>
          <a:solidFill>
            <a:schemeClr val="bg1"/>
          </a:solidFill>
          <a:ln w="12700">
            <a:solidFill>
              <a:srgbClr val="D8DCE8"/>
            </a:solidFill>
            <a:prstDash val="solid"/>
          </a:ln>
          <a:effectLst>
            <a:outerShdw blurRad="1270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8" name="Shape 34">
            <a:extLst>
              <a:ext uri="{FF2B5EF4-FFF2-40B4-BE49-F238E27FC236}">
                <a16:creationId xmlns:a16="http://schemas.microsoft.com/office/drawing/2014/main" id="{BD052AC7-5B18-E0E2-CA65-182732AD6C3D}"/>
              </a:ext>
            </a:extLst>
          </p:cNvPr>
          <p:cNvSpPr/>
          <p:nvPr/>
        </p:nvSpPr>
        <p:spPr>
          <a:xfrm>
            <a:off x="4236720" y="4706112"/>
            <a:ext cx="1853184" cy="97536"/>
          </a:xfrm>
          <a:prstGeom prst="rect">
            <a:avLst/>
          </a:prstGeom>
          <a:solidFill>
            <a:srgbClr val="0B1A3F"/>
          </a:solidFill>
          <a:ln w="12700">
            <a:solidFill>
              <a:srgbClr val="0B1A3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9" name="Image 6" descr="preencoded.png">
            <a:extLst>
              <a:ext uri="{FF2B5EF4-FFF2-40B4-BE49-F238E27FC236}">
                <a16:creationId xmlns:a16="http://schemas.microsoft.com/office/drawing/2014/main" id="{FF0F42F6-4E1E-261E-4F19-559029DBF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3024" y="4852416"/>
            <a:ext cx="365760" cy="365760"/>
          </a:xfrm>
          <a:prstGeom prst="rect">
            <a:avLst/>
          </a:prstGeom>
        </p:spPr>
      </p:pic>
      <p:sp>
        <p:nvSpPr>
          <p:cNvPr id="100" name="Text 35">
            <a:extLst>
              <a:ext uri="{FF2B5EF4-FFF2-40B4-BE49-F238E27FC236}">
                <a16:creationId xmlns:a16="http://schemas.microsoft.com/office/drawing/2014/main" id="{A1BA6A39-469B-D317-B7D3-138B29C541C4}"/>
              </a:ext>
            </a:extLst>
          </p:cNvPr>
          <p:cNvSpPr/>
          <p:nvPr/>
        </p:nvSpPr>
        <p:spPr>
          <a:xfrm>
            <a:off x="4334256" y="5266944"/>
            <a:ext cx="165811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b="1" dirty="0">
                <a:solidFill>
                  <a:srgbClr val="0B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1" name="Shape 37">
            <a:extLst>
              <a:ext uri="{FF2B5EF4-FFF2-40B4-BE49-F238E27FC236}">
                <a16:creationId xmlns:a16="http://schemas.microsoft.com/office/drawing/2014/main" id="{0C8005C9-8C58-CDE3-F9AF-3958E5F5D0D7}"/>
              </a:ext>
            </a:extLst>
          </p:cNvPr>
          <p:cNvSpPr/>
          <p:nvPr/>
        </p:nvSpPr>
        <p:spPr>
          <a:xfrm>
            <a:off x="6181344" y="4706112"/>
            <a:ext cx="1853184" cy="950976"/>
          </a:xfrm>
          <a:prstGeom prst="rect">
            <a:avLst/>
          </a:prstGeom>
          <a:solidFill>
            <a:schemeClr val="bg1"/>
          </a:solidFill>
          <a:ln w="12700">
            <a:solidFill>
              <a:srgbClr val="D8DCE8"/>
            </a:solidFill>
            <a:prstDash val="solid"/>
          </a:ln>
          <a:effectLst>
            <a:outerShdw blurRad="1270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2" name="Shape 38">
            <a:extLst>
              <a:ext uri="{FF2B5EF4-FFF2-40B4-BE49-F238E27FC236}">
                <a16:creationId xmlns:a16="http://schemas.microsoft.com/office/drawing/2014/main" id="{565AB0CB-0304-DAC1-97F0-63F8CFCF5806}"/>
              </a:ext>
            </a:extLst>
          </p:cNvPr>
          <p:cNvSpPr/>
          <p:nvPr/>
        </p:nvSpPr>
        <p:spPr>
          <a:xfrm>
            <a:off x="6181344" y="4706112"/>
            <a:ext cx="1853184" cy="97536"/>
          </a:xfrm>
          <a:prstGeom prst="rect">
            <a:avLst/>
          </a:prstGeom>
          <a:solidFill>
            <a:srgbClr val="0B1A3F"/>
          </a:solidFill>
          <a:ln w="12700">
            <a:solidFill>
              <a:srgbClr val="0B1A3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3" name="Image 7" descr="preencoded.png">
            <a:extLst>
              <a:ext uri="{FF2B5EF4-FFF2-40B4-BE49-F238E27FC236}">
                <a16:creationId xmlns:a16="http://schemas.microsoft.com/office/drawing/2014/main" id="{08073A73-8884-FBAB-C4D4-36CAC5FD6F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4852416"/>
            <a:ext cx="365760" cy="365760"/>
          </a:xfrm>
          <a:prstGeom prst="rect">
            <a:avLst/>
          </a:prstGeom>
        </p:spPr>
      </p:pic>
      <p:sp>
        <p:nvSpPr>
          <p:cNvPr id="104" name="Text 39">
            <a:extLst>
              <a:ext uri="{FF2B5EF4-FFF2-40B4-BE49-F238E27FC236}">
                <a16:creationId xmlns:a16="http://schemas.microsoft.com/office/drawing/2014/main" id="{8008E871-B2C8-2E1C-071F-FD0BBEAC0E67}"/>
              </a:ext>
            </a:extLst>
          </p:cNvPr>
          <p:cNvSpPr/>
          <p:nvPr/>
        </p:nvSpPr>
        <p:spPr>
          <a:xfrm>
            <a:off x="6278880" y="5266944"/>
            <a:ext cx="165811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b="1" dirty="0">
                <a:solidFill>
                  <a:srgbClr val="0B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Technology-First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" name="Shape 41">
            <a:extLst>
              <a:ext uri="{FF2B5EF4-FFF2-40B4-BE49-F238E27FC236}">
                <a16:creationId xmlns:a16="http://schemas.microsoft.com/office/drawing/2014/main" id="{E0EC9F6A-2F5C-8DCF-B554-B3D20A85584F}"/>
              </a:ext>
            </a:extLst>
          </p:cNvPr>
          <p:cNvSpPr/>
          <p:nvPr/>
        </p:nvSpPr>
        <p:spPr>
          <a:xfrm>
            <a:off x="8125968" y="4706112"/>
            <a:ext cx="1853184" cy="950976"/>
          </a:xfrm>
          <a:prstGeom prst="rect">
            <a:avLst/>
          </a:prstGeom>
          <a:solidFill>
            <a:schemeClr val="bg1"/>
          </a:solidFill>
          <a:ln w="12700">
            <a:solidFill>
              <a:srgbClr val="D8DCE8"/>
            </a:solidFill>
            <a:prstDash val="solid"/>
          </a:ln>
          <a:effectLst>
            <a:outerShdw blurRad="1270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6" name="Shape 42">
            <a:extLst>
              <a:ext uri="{FF2B5EF4-FFF2-40B4-BE49-F238E27FC236}">
                <a16:creationId xmlns:a16="http://schemas.microsoft.com/office/drawing/2014/main" id="{8F451581-52EB-F15E-EC73-FBD9CAEE2EB0}"/>
              </a:ext>
            </a:extLst>
          </p:cNvPr>
          <p:cNvSpPr/>
          <p:nvPr/>
        </p:nvSpPr>
        <p:spPr>
          <a:xfrm>
            <a:off x="8125968" y="4706112"/>
            <a:ext cx="1853184" cy="97536"/>
          </a:xfrm>
          <a:prstGeom prst="rect">
            <a:avLst/>
          </a:prstGeom>
          <a:solidFill>
            <a:srgbClr val="0B1A3F"/>
          </a:solidFill>
          <a:ln w="12700">
            <a:solidFill>
              <a:srgbClr val="0B1A3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7" name="Image 8" descr="preencoded.png">
            <a:extLst>
              <a:ext uri="{FF2B5EF4-FFF2-40B4-BE49-F238E27FC236}">
                <a16:creationId xmlns:a16="http://schemas.microsoft.com/office/drawing/2014/main" id="{0E997246-7FB6-40B1-6B4F-BEE641F5AE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2272" y="4852416"/>
            <a:ext cx="365760" cy="365760"/>
          </a:xfrm>
          <a:prstGeom prst="rect">
            <a:avLst/>
          </a:prstGeom>
        </p:spPr>
      </p:pic>
      <p:sp>
        <p:nvSpPr>
          <p:cNvPr id="108" name="Text 43">
            <a:extLst>
              <a:ext uri="{FF2B5EF4-FFF2-40B4-BE49-F238E27FC236}">
                <a16:creationId xmlns:a16="http://schemas.microsoft.com/office/drawing/2014/main" id="{DAE00A50-E719-6B4E-CACA-251F50A8790A}"/>
              </a:ext>
            </a:extLst>
          </p:cNvPr>
          <p:cNvSpPr/>
          <p:nvPr/>
        </p:nvSpPr>
        <p:spPr>
          <a:xfrm>
            <a:off x="8223504" y="5266944"/>
            <a:ext cx="175564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b="1" dirty="0">
                <a:solidFill>
                  <a:srgbClr val="0B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Ecosystem Expertise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1CD4C7E8-950B-61B4-19A2-422C720896E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520" t="16561" r="10231" b="12526"/>
          <a:stretch>
            <a:fillRect/>
          </a:stretch>
        </p:blipFill>
        <p:spPr>
          <a:xfrm>
            <a:off x="487680" y="1847151"/>
            <a:ext cx="678324" cy="56686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478271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608</Words>
  <Application>Microsoft Macintosh PowerPoint</Application>
  <PresentationFormat>Widescreen</PresentationFormat>
  <Paragraphs>115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Yu Gothic UI</vt:lpstr>
      <vt:lpstr>Yu Gothic UI Semibold</vt:lpstr>
      <vt:lpstr>Yu Gothic UI Semilight</vt:lpstr>
      <vt:lpstr>Aptos</vt:lpstr>
      <vt:lpstr>Aptos Display</vt:lpstr>
      <vt:lpstr>Arial</vt:lpstr>
      <vt:lpstr>Arial Black</vt:lpstr>
      <vt:lpstr>Calibri</vt:lpstr>
      <vt:lpstr>Charter Roman</vt:lpstr>
      <vt:lpstr>Inter</vt:lpstr>
      <vt:lpstr>Inter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devin McGrath</dc:creator>
  <cp:lastModifiedBy>devin McGrath</cp:lastModifiedBy>
  <cp:revision>3</cp:revision>
  <dcterms:created xsi:type="dcterms:W3CDTF">2026-03-20T04:40:40Z</dcterms:created>
  <dcterms:modified xsi:type="dcterms:W3CDTF">2026-03-20T07:33:13Z</dcterms:modified>
</cp:coreProperties>
</file>